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Georgia Pro Condensed" charset="1" panose="02040506050405020303"/>
      <p:regular r:id="rId20"/>
    </p:embeddedFont>
    <p:embeddedFont>
      <p:font typeface="Georgia Pro Condensed Bold" charset="1" panose="020408060504050202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embeddings/oleObject1.bin" Type="http://schemas.openxmlformats.org/officeDocument/2006/relationships/oleObject"/><Relationship Id="rId4"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2700"/>
            <a:ext cx="11201400" cy="10299700"/>
            <a:chOff x="0" y="0"/>
            <a:chExt cx="963348" cy="885799"/>
          </a:xfrm>
        </p:grpSpPr>
        <p:sp>
          <p:nvSpPr>
            <p:cNvPr name="Freeform 3" id="3"/>
            <p:cNvSpPr/>
            <p:nvPr/>
          </p:nvSpPr>
          <p:spPr>
            <a:xfrm flipH="false" flipV="false" rot="0">
              <a:off x="0" y="0"/>
              <a:ext cx="963348" cy="885799"/>
            </a:xfrm>
            <a:custGeom>
              <a:avLst/>
              <a:gdLst/>
              <a:ahLst/>
              <a:cxnLst/>
              <a:rect r="r" b="b" t="t" l="l"/>
              <a:pathLst>
                <a:path h="885799" w="963348">
                  <a:moveTo>
                    <a:pt x="0" y="0"/>
                  </a:moveTo>
                  <a:lnTo>
                    <a:pt x="963348" y="0"/>
                  </a:lnTo>
                  <a:lnTo>
                    <a:pt x="963348" y="885799"/>
                  </a:lnTo>
                  <a:lnTo>
                    <a:pt x="0" y="885799"/>
                  </a:lnTo>
                  <a:close/>
                </a:path>
              </a:pathLst>
            </a:custGeom>
            <a:solidFill>
              <a:srgbClr val="545454"/>
            </a:solidFill>
            <a:ln w="12700">
              <a:solidFill>
                <a:srgbClr val="000000"/>
              </a:solidFill>
            </a:ln>
          </p:spPr>
        </p:sp>
      </p:grpSp>
      <p:grpSp>
        <p:nvGrpSpPr>
          <p:cNvPr name="Group 4" id="4"/>
          <p:cNvGrpSpPr/>
          <p:nvPr/>
        </p:nvGrpSpPr>
        <p:grpSpPr>
          <a:xfrm rot="0">
            <a:off x="11868150" y="666750"/>
            <a:ext cx="5753100" cy="8953500"/>
            <a:chOff x="0" y="0"/>
            <a:chExt cx="814724" cy="1267949"/>
          </a:xfrm>
        </p:grpSpPr>
        <p:sp>
          <p:nvSpPr>
            <p:cNvPr name="Freeform 5" id="5"/>
            <p:cNvSpPr/>
            <p:nvPr/>
          </p:nvSpPr>
          <p:spPr>
            <a:xfrm flipH="false" flipV="false" rot="0">
              <a:off x="0" y="0"/>
              <a:ext cx="814724" cy="1267949"/>
            </a:xfrm>
            <a:custGeom>
              <a:avLst/>
              <a:gdLst/>
              <a:ahLst/>
              <a:cxnLst/>
              <a:rect r="r" b="b" t="t" l="l"/>
              <a:pathLst>
                <a:path h="1267949" w="814724">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l="0" t="-199" r="0" b="-199"/>
              </a:stretch>
            </a:blipFill>
          </p:spPr>
        </p:sp>
      </p:grpSp>
      <p:sp>
        <p:nvSpPr>
          <p:cNvPr name="TextBox 6" id="6"/>
          <p:cNvSpPr txBox="true"/>
          <p:nvPr/>
        </p:nvSpPr>
        <p:spPr>
          <a:xfrm rot="0">
            <a:off x="675380" y="7679955"/>
            <a:ext cx="6879315" cy="1940295"/>
          </a:xfrm>
          <a:prstGeom prst="rect">
            <a:avLst/>
          </a:prstGeom>
        </p:spPr>
        <p:txBody>
          <a:bodyPr anchor="t" rtlCol="false" tIns="0" lIns="0" bIns="0" rIns="0">
            <a:spAutoFit/>
          </a:bodyPr>
          <a:lstStyle/>
          <a:p>
            <a:pPr algn="l" marL="0" indent="0" lvl="0">
              <a:lnSpc>
                <a:spcPts val="2237"/>
              </a:lnSpc>
            </a:pPr>
            <a:r>
              <a:rPr lang="en-US" sz="1720" spc="-25">
                <a:solidFill>
                  <a:srgbClr val="FFFFFF"/>
                </a:solidFill>
                <a:latin typeface="Georgia Pro Condensed"/>
                <a:ea typeface="Georgia Pro Condensed"/>
                <a:cs typeface="Georgia Pro Condensed"/>
                <a:sym typeface="Georgia Pro Condensed"/>
              </a:rPr>
              <a:t>T</a:t>
            </a:r>
            <a:r>
              <a:rPr lang="en-US" sz="1720" spc="-25" strike="noStrike" u="none">
                <a:solidFill>
                  <a:srgbClr val="FFFFFF"/>
                </a:solidFill>
                <a:latin typeface="Georgia Pro Condensed"/>
                <a:ea typeface="Georgia Pro Condensed"/>
                <a:cs typeface="Georgia Pro Condensed"/>
                <a:sym typeface="Georgia Pro Condensed"/>
              </a:rPr>
              <a:t>eam Members:</a:t>
            </a:r>
          </a:p>
          <a:p>
            <a:pPr algn="l" marL="0" indent="0" lvl="0">
              <a:lnSpc>
                <a:spcPts val="2237"/>
              </a:lnSpc>
            </a:pPr>
            <a:r>
              <a:rPr lang="en-US" sz="1720" spc="-25" strike="noStrike" u="none">
                <a:solidFill>
                  <a:srgbClr val="FFFFFF"/>
                </a:solidFill>
                <a:latin typeface="Georgia Pro Condensed"/>
                <a:ea typeface="Georgia Pro Condensed"/>
                <a:cs typeface="Georgia Pro Condensed"/>
                <a:sym typeface="Georgia Pro Condensed"/>
              </a:rPr>
              <a:t>Tejas Sanjeev Vaidya (Team Manager)</a:t>
            </a:r>
          </a:p>
          <a:p>
            <a:pPr algn="l" marL="0" indent="0" lvl="0">
              <a:lnSpc>
                <a:spcPts val="2237"/>
              </a:lnSpc>
            </a:pPr>
            <a:r>
              <a:rPr lang="en-US" sz="1720" spc="-25" strike="noStrike" u="none">
                <a:solidFill>
                  <a:srgbClr val="FFFFFF"/>
                </a:solidFill>
                <a:latin typeface="Georgia Pro Condensed"/>
                <a:ea typeface="Georgia Pro Condensed"/>
                <a:cs typeface="Georgia Pro Condensed"/>
                <a:sym typeface="Georgia Pro Condensed"/>
              </a:rPr>
              <a:t>Anusha Bellavara Mallikarjuna, Gouri Sharma</a:t>
            </a:r>
          </a:p>
          <a:p>
            <a:pPr algn="l" marL="0" indent="0" lvl="0">
              <a:lnSpc>
                <a:spcPts val="2237"/>
              </a:lnSpc>
            </a:pPr>
            <a:r>
              <a:rPr lang="en-US" sz="1720" spc="-25" strike="noStrike" u="none">
                <a:solidFill>
                  <a:srgbClr val="FFFFFF"/>
                </a:solidFill>
                <a:latin typeface="Georgia Pro Condensed"/>
                <a:ea typeface="Georgia Pro Condensed"/>
                <a:cs typeface="Georgia Pro Condensed"/>
                <a:sym typeface="Georgia Pro Condensed"/>
              </a:rPr>
              <a:t>Kriday Kallalathil, Tejaswini Waghmare</a:t>
            </a:r>
          </a:p>
          <a:p>
            <a:pPr algn="l" marL="0" indent="0" lvl="0">
              <a:lnSpc>
                <a:spcPts val="2237"/>
              </a:lnSpc>
            </a:pPr>
          </a:p>
          <a:p>
            <a:pPr algn="l" marL="0" indent="0" lvl="0">
              <a:lnSpc>
                <a:spcPts val="2237"/>
              </a:lnSpc>
            </a:pPr>
            <a:r>
              <a:rPr lang="en-US" sz="1720" spc="-25" strike="noStrike" u="none">
                <a:solidFill>
                  <a:srgbClr val="FFFFFF"/>
                </a:solidFill>
                <a:latin typeface="Georgia Pro Condensed"/>
                <a:ea typeface="Georgia Pro Condensed"/>
                <a:cs typeface="Georgia Pro Condensed"/>
                <a:sym typeface="Georgia Pro Condensed"/>
              </a:rPr>
              <a:t>Data Programming - Fall 2025</a:t>
            </a:r>
          </a:p>
          <a:p>
            <a:pPr algn="l" marL="0" indent="0" lvl="0">
              <a:lnSpc>
                <a:spcPts val="2237"/>
              </a:lnSpc>
            </a:pPr>
          </a:p>
        </p:txBody>
      </p:sp>
      <p:sp>
        <p:nvSpPr>
          <p:cNvPr name="TextBox 7" id="7"/>
          <p:cNvSpPr txBox="true"/>
          <p:nvPr/>
        </p:nvSpPr>
        <p:spPr>
          <a:xfrm rot="0">
            <a:off x="675380" y="879818"/>
            <a:ext cx="9754495" cy="2460610"/>
          </a:xfrm>
          <a:prstGeom prst="rect">
            <a:avLst/>
          </a:prstGeom>
        </p:spPr>
        <p:txBody>
          <a:bodyPr anchor="t" rtlCol="false" tIns="0" lIns="0" bIns="0" rIns="0">
            <a:spAutoFit/>
          </a:bodyPr>
          <a:lstStyle/>
          <a:p>
            <a:pPr algn="l" marL="0" indent="0" lvl="0">
              <a:lnSpc>
                <a:spcPts val="9499"/>
              </a:lnSpc>
            </a:pPr>
            <a:r>
              <a:rPr lang="en-US" sz="9499" spc="-332" strike="noStrike" u="none">
                <a:solidFill>
                  <a:srgbClr val="FFFFFF"/>
                </a:solidFill>
                <a:latin typeface="Georgia Pro Condensed"/>
                <a:ea typeface="Georgia Pro Condensed"/>
                <a:cs typeface="Georgia Pro Condensed"/>
                <a:sym typeface="Georgia Pro Condensed"/>
              </a:rPr>
              <a:t>Telco Customer Churn Analysis</a:t>
            </a:r>
          </a:p>
        </p:txBody>
      </p:sp>
      <p:sp>
        <p:nvSpPr>
          <p:cNvPr name="TextBox 8" id="8"/>
          <p:cNvSpPr txBox="true"/>
          <p:nvPr/>
        </p:nvSpPr>
        <p:spPr>
          <a:xfrm rot="0">
            <a:off x="675380" y="3330904"/>
            <a:ext cx="10377574" cy="887344"/>
          </a:xfrm>
          <a:prstGeom prst="rect">
            <a:avLst/>
          </a:prstGeom>
        </p:spPr>
        <p:txBody>
          <a:bodyPr anchor="t" rtlCol="false" tIns="0" lIns="0" bIns="0" rIns="0">
            <a:spAutoFit/>
          </a:bodyPr>
          <a:lstStyle/>
          <a:p>
            <a:pPr algn="l">
              <a:lnSpc>
                <a:spcPts val="3455"/>
              </a:lnSpc>
              <a:spcBef>
                <a:spcPct val="0"/>
              </a:spcBef>
            </a:pPr>
            <a:r>
              <a:rPr lang="en-US" b="true" sz="2879" spc="-43">
                <a:solidFill>
                  <a:srgbClr val="FFFFFF"/>
                </a:solidFill>
                <a:latin typeface="Georgia Pro Condensed Bold"/>
                <a:ea typeface="Georgia Pro Condensed Bold"/>
                <a:cs typeface="Georgia Pro Condensed Bold"/>
                <a:sym typeface="Georgia Pro Condensed Bold"/>
              </a:rPr>
              <a:t>P</a:t>
            </a:r>
            <a:r>
              <a:rPr lang="en-US" b="true" sz="2879" spc="-43">
                <a:solidFill>
                  <a:srgbClr val="FFFFFF"/>
                </a:solidFill>
                <a:latin typeface="Georgia Pro Condensed Bold"/>
                <a:ea typeface="Georgia Pro Condensed Bold"/>
                <a:cs typeface="Georgia Pro Condensed Bold"/>
                <a:sym typeface="Georgia Pro Condensed Bold"/>
              </a:rPr>
              <a:t>redictive Modeling for Customer Retention</a:t>
            </a:r>
          </a:p>
          <a:p>
            <a:pPr algn="just">
              <a:lnSpc>
                <a:spcPts val="3455"/>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4" id="4"/>
            <p:cNvSpPr txBox="true"/>
            <p:nvPr/>
          </p:nvSpPr>
          <p:spPr>
            <a:xfrm>
              <a:off x="0" y="-47625"/>
              <a:ext cx="4816593" cy="2756958"/>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5" id="5"/>
          <p:cNvGrpSpPr/>
          <p:nvPr/>
        </p:nvGrpSpPr>
        <p:grpSpPr>
          <a:xfrm rot="0">
            <a:off x="345108" y="532286"/>
            <a:ext cx="16230600" cy="5229107"/>
            <a:chOff x="0" y="0"/>
            <a:chExt cx="21640800" cy="6972142"/>
          </a:xfrm>
        </p:grpSpPr>
        <p:sp>
          <p:nvSpPr>
            <p:cNvPr name="TextBox 6" id="6"/>
            <p:cNvSpPr txBox="true"/>
            <p:nvPr/>
          </p:nvSpPr>
          <p:spPr>
            <a:xfrm rot="0">
              <a:off x="0" y="-66675"/>
              <a:ext cx="21640800" cy="2166274"/>
            </a:xfrm>
            <a:prstGeom prst="rect">
              <a:avLst/>
            </a:prstGeom>
          </p:spPr>
          <p:txBody>
            <a:bodyPr anchor="t" rtlCol="false" tIns="0" lIns="0" bIns="0" rIns="0">
              <a:spAutoFit/>
            </a:bodyPr>
            <a:lstStyle/>
            <a:p>
              <a:pPr algn="l" marL="0" indent="0" lvl="0">
                <a:lnSpc>
                  <a:spcPts val="6500"/>
                </a:lnSpc>
              </a:pPr>
              <a:r>
                <a:rPr lang="en-US" sz="5000" spc="-150">
                  <a:solidFill>
                    <a:srgbClr val="000000"/>
                  </a:solidFill>
                  <a:latin typeface="Georgia Pro Condensed"/>
                  <a:ea typeface="Georgia Pro Condensed"/>
                  <a:cs typeface="Georgia Pro Condensed"/>
                  <a:sym typeface="Georgia Pro Condensed"/>
                </a:rPr>
                <a:t>Pro</a:t>
              </a:r>
              <a:r>
                <a:rPr lang="en-US" sz="5000" spc="-150">
                  <a:solidFill>
                    <a:srgbClr val="000000"/>
                  </a:solidFill>
                  <a:latin typeface="Georgia Pro Condensed"/>
                  <a:ea typeface="Georgia Pro Condensed"/>
                  <a:cs typeface="Georgia Pro Condensed"/>
                  <a:sym typeface="Georgia Pro Condensed"/>
                </a:rPr>
                <a:t>blem Statement &amp; Business Context</a:t>
              </a:r>
            </a:p>
            <a:p>
              <a:pPr algn="l" marL="0" indent="0" lvl="0">
                <a:lnSpc>
                  <a:spcPts val="6520"/>
                </a:lnSpc>
              </a:pPr>
            </a:p>
          </p:txBody>
        </p:sp>
        <p:sp>
          <p:nvSpPr>
            <p:cNvPr name="TextBox 7" id="7"/>
            <p:cNvSpPr txBox="true"/>
            <p:nvPr/>
          </p:nvSpPr>
          <p:spPr>
            <a:xfrm rot="0">
              <a:off x="455728" y="1523461"/>
              <a:ext cx="20729345" cy="5448681"/>
            </a:xfrm>
            <a:prstGeom prst="rect">
              <a:avLst/>
            </a:prstGeom>
          </p:spPr>
          <p:txBody>
            <a:bodyPr anchor="t" rtlCol="false" tIns="0" lIns="0" bIns="0" rIns="0">
              <a:spAutoFit/>
            </a:bodyPr>
            <a:lstStyle/>
            <a:p>
              <a:pPr algn="l" marL="0" indent="0" lvl="0">
                <a:lnSpc>
                  <a:spcPts val="6682"/>
                </a:lnSpc>
              </a:pPr>
              <a:r>
                <a:rPr lang="en-US" sz="4099" spc="-61">
                  <a:solidFill>
                    <a:srgbClr val="000000"/>
                  </a:solidFill>
                  <a:latin typeface="Georgia Pro Condensed"/>
                  <a:ea typeface="Georgia Pro Condensed"/>
                  <a:cs typeface="Georgia Pro Condensed"/>
                  <a:sym typeface="Georgia Pro Condensed"/>
                </a:rPr>
                <a:t>This project analyzes customer churn in the telecom industry, where retention is far cheaper than acquisition. The goal is to predict who is likely to leave and identify the key factors driving churn to support targeted retention efforts.</a:t>
              </a:r>
            </a:p>
            <a:p>
              <a:pPr algn="l" marL="0" indent="0" lvl="0">
                <a:lnSpc>
                  <a:spcPts val="5739"/>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A6A6A6">
                    <a:alpha val="100000"/>
                  </a:srgbClr>
                </a:gs>
                <a:gs pos="100000">
                  <a:srgbClr val="FFFFFF">
                    <a:alpha val="100000"/>
                  </a:srgbClr>
                </a:gs>
              </a:gsLst>
              <a:lin ang="0"/>
            </a:gradFill>
            <a:ln cap="sq">
              <a:noFill/>
              <a:prstDash val="solid"/>
              <a:miter/>
            </a:ln>
          </p:spPr>
        </p:sp>
        <p:sp>
          <p:nvSpPr>
            <p:cNvPr name="TextBox 4" id="4"/>
            <p:cNvSpPr txBox="true"/>
            <p:nvPr/>
          </p:nvSpPr>
          <p:spPr>
            <a:xfrm>
              <a:off x="0" y="-47625"/>
              <a:ext cx="4816593" cy="2756958"/>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5" id="5"/>
          <p:cNvGrpSpPr/>
          <p:nvPr/>
        </p:nvGrpSpPr>
        <p:grpSpPr>
          <a:xfrm rot="0">
            <a:off x="348608" y="539410"/>
            <a:ext cx="10136428" cy="9902825"/>
            <a:chOff x="0" y="0"/>
            <a:chExt cx="13515238" cy="13203767"/>
          </a:xfrm>
        </p:grpSpPr>
        <p:sp>
          <p:nvSpPr>
            <p:cNvPr name="TextBox 6" id="6"/>
            <p:cNvSpPr txBox="true"/>
            <p:nvPr/>
          </p:nvSpPr>
          <p:spPr>
            <a:xfrm rot="0">
              <a:off x="0" y="-66675"/>
              <a:ext cx="13515238" cy="2166408"/>
            </a:xfrm>
            <a:prstGeom prst="rect">
              <a:avLst/>
            </a:prstGeom>
          </p:spPr>
          <p:txBody>
            <a:bodyPr anchor="t" rtlCol="false" tIns="0" lIns="0" bIns="0" rIns="0">
              <a:spAutoFit/>
            </a:bodyPr>
            <a:lstStyle/>
            <a:p>
              <a:pPr algn="l" marL="0" indent="0" lvl="0">
                <a:lnSpc>
                  <a:spcPts val="6500"/>
                </a:lnSpc>
              </a:pPr>
              <a:r>
                <a:rPr lang="en-US" sz="5000" spc="-150">
                  <a:solidFill>
                    <a:srgbClr val="000000"/>
                  </a:solidFill>
                  <a:latin typeface="Georgia Pro Condensed"/>
                  <a:ea typeface="Georgia Pro Condensed"/>
                  <a:cs typeface="Georgia Pro Condensed"/>
                  <a:sym typeface="Georgia Pro Condensed"/>
                </a:rPr>
                <a:t>Dataset Overview &amp; Descriptiv</a:t>
              </a:r>
              <a:r>
                <a:rPr lang="en-US" sz="5000" spc="-150">
                  <a:solidFill>
                    <a:srgbClr val="000000"/>
                  </a:solidFill>
                  <a:latin typeface="Georgia Pro Condensed"/>
                  <a:ea typeface="Georgia Pro Condensed"/>
                  <a:cs typeface="Georgia Pro Condensed"/>
                  <a:sym typeface="Georgia Pro Condensed"/>
                </a:rPr>
                <a:t>e Statistics</a:t>
              </a:r>
            </a:p>
            <a:p>
              <a:pPr algn="l" marL="0" indent="0" lvl="0">
                <a:lnSpc>
                  <a:spcPts val="6500"/>
                </a:lnSpc>
              </a:pPr>
            </a:p>
          </p:txBody>
        </p:sp>
        <p:sp>
          <p:nvSpPr>
            <p:cNvPr name="TextBox 7" id="7"/>
            <p:cNvSpPr txBox="true"/>
            <p:nvPr/>
          </p:nvSpPr>
          <p:spPr>
            <a:xfrm rot="0">
              <a:off x="0" y="3542823"/>
              <a:ext cx="13515238" cy="527050"/>
            </a:xfrm>
            <a:prstGeom prst="rect">
              <a:avLst/>
            </a:prstGeom>
          </p:spPr>
          <p:txBody>
            <a:bodyPr anchor="t" rtlCol="false" tIns="0" lIns="0" bIns="0" rIns="0">
              <a:spAutoFit/>
            </a:bodyPr>
            <a:lstStyle/>
            <a:p>
              <a:pPr algn="l" marL="0" indent="0" lvl="0">
                <a:lnSpc>
                  <a:spcPts val="3000"/>
                </a:lnSpc>
                <a:spcBef>
                  <a:spcPct val="0"/>
                </a:spcBef>
              </a:pPr>
            </a:p>
          </p:txBody>
        </p:sp>
        <p:sp>
          <p:nvSpPr>
            <p:cNvPr name="TextBox 8" id="8"/>
            <p:cNvSpPr txBox="true"/>
            <p:nvPr/>
          </p:nvSpPr>
          <p:spPr>
            <a:xfrm rot="0">
              <a:off x="0" y="954617"/>
              <a:ext cx="12022029" cy="12249151"/>
            </a:xfrm>
            <a:prstGeom prst="rect">
              <a:avLst/>
            </a:prstGeom>
          </p:spPr>
          <p:txBody>
            <a:bodyPr anchor="t" rtlCol="false" tIns="0" lIns="0" bIns="0" rIns="0">
              <a:spAutoFit/>
            </a:bodyPr>
            <a:lstStyle/>
            <a:p>
              <a:pPr algn="l">
                <a:lnSpc>
                  <a:spcPts val="3899"/>
                </a:lnSpc>
              </a:pPr>
            </a:p>
            <a:p>
              <a:pPr algn="l" marL="539748" indent="-269874" lvl="1">
                <a:lnSpc>
                  <a:spcPts val="3899"/>
                </a:lnSpc>
                <a:buFont typeface="Arial"/>
                <a:buChar char="•"/>
              </a:pPr>
              <a:r>
                <a:rPr lang="en-US" b="true" sz="2499" spc="-37">
                  <a:solidFill>
                    <a:srgbClr val="000000"/>
                  </a:solidFill>
                  <a:latin typeface="Georgia Pro Condensed Bold"/>
                  <a:ea typeface="Georgia Pro Condensed Bold"/>
                  <a:cs typeface="Georgia Pro Condensed Bold"/>
                  <a:sym typeface="Georgia Pro Condensed Bold"/>
                </a:rPr>
                <a:t>Dataset Size</a:t>
              </a:r>
              <a:r>
                <a:rPr lang="en-US" sz="2499" spc="-37">
                  <a:solidFill>
                    <a:srgbClr val="000000"/>
                  </a:solidFill>
                  <a:latin typeface="Georgia Pro Condensed"/>
                  <a:ea typeface="Georgia Pro Condensed"/>
                  <a:cs typeface="Georgia Pro Condensed"/>
                  <a:sym typeface="Georgia Pro Condensed"/>
                </a:rPr>
                <a:t>: </a:t>
              </a:r>
              <a:r>
                <a:rPr lang="en-US" sz="2499" spc="-37">
                  <a:solidFill>
                    <a:srgbClr val="000000"/>
                  </a:solidFill>
                  <a:latin typeface="Georgia Pro Condensed"/>
                  <a:ea typeface="Georgia Pro Condensed"/>
                  <a:cs typeface="Georgia Pro Condensed"/>
                  <a:sym typeface="Georgia Pro Condensed"/>
                </a:rPr>
                <a:t>The Telco Customer Churn dataset contains 7,042 customers and 21 features.</a:t>
              </a:r>
            </a:p>
            <a:p>
              <a:pPr algn="l" marL="539748" indent="-269874" lvl="1">
                <a:lnSpc>
                  <a:spcPts val="3899"/>
                </a:lnSpc>
                <a:buFont typeface="Arial"/>
                <a:buChar char="•"/>
              </a:pPr>
              <a:r>
                <a:rPr lang="en-US" b="true" sz="2499" spc="-37">
                  <a:solidFill>
                    <a:srgbClr val="000000"/>
                  </a:solidFill>
                  <a:latin typeface="Georgia Pro Condensed Bold"/>
                  <a:ea typeface="Georgia Pro Condensed Bold"/>
                  <a:cs typeface="Georgia Pro Condensed Bold"/>
                  <a:sym typeface="Georgia Pro Condensed Bold"/>
                </a:rPr>
                <a:t>Numerical Features</a:t>
              </a:r>
              <a:r>
                <a:rPr lang="en-US" sz="2499" spc="-37">
                  <a:solidFill>
                    <a:srgbClr val="000000"/>
                  </a:solidFill>
                  <a:latin typeface="Georgia Pro Condensed"/>
                  <a:ea typeface="Georgia Pro Condensed"/>
                  <a:cs typeface="Georgia Pro Condensed"/>
                  <a:sym typeface="Georgia Pro Condensed"/>
                </a:rPr>
                <a:t> (4): Includes tenure, MonthlyCharges, TotalCharges, and SeniorCitizen, which capture customer tenure, billing behavior, and demographic information.</a:t>
              </a:r>
            </a:p>
            <a:p>
              <a:pPr algn="l" marL="539748" indent="-269874" lvl="1">
                <a:lnSpc>
                  <a:spcPts val="3899"/>
                </a:lnSpc>
                <a:buFont typeface="Arial"/>
                <a:buChar char="•"/>
              </a:pPr>
              <a:r>
                <a:rPr lang="en-US" b="true" sz="2499" spc="-37">
                  <a:solidFill>
                    <a:srgbClr val="000000"/>
                  </a:solidFill>
                  <a:latin typeface="Georgia Pro Condensed Bold"/>
                  <a:ea typeface="Georgia Pro Condensed Bold"/>
                  <a:cs typeface="Georgia Pro Condensed Bold"/>
                  <a:sym typeface="Georgia Pro Condensed Bold"/>
                </a:rPr>
                <a:t>Categorical Features (</a:t>
              </a:r>
              <a:r>
                <a:rPr lang="en-US" sz="2499" spc="-37">
                  <a:solidFill>
                    <a:srgbClr val="000000"/>
                  </a:solidFill>
                  <a:latin typeface="Georgia Pro Condensed"/>
                  <a:ea typeface="Georgia Pro Condensed"/>
                  <a:cs typeface="Georgia Pro Condensed"/>
                  <a:sym typeface="Georgia Pro Condensed"/>
                </a:rPr>
                <a:t>17): Represent demographics, subscribed services, and billing/contract types, covering gender, internet services, phone services, payment method, and more.</a:t>
              </a:r>
            </a:p>
            <a:p>
              <a:pPr algn="l" marL="539748" indent="-269874" lvl="1">
                <a:lnSpc>
                  <a:spcPts val="3899"/>
                </a:lnSpc>
                <a:buFont typeface="Arial"/>
                <a:buChar char="•"/>
              </a:pPr>
              <a:r>
                <a:rPr lang="en-US" b="true" sz="2499" spc="-37">
                  <a:solidFill>
                    <a:srgbClr val="000000"/>
                  </a:solidFill>
                  <a:latin typeface="Georgia Pro Condensed Bold"/>
                  <a:ea typeface="Georgia Pro Condensed Bold"/>
                  <a:cs typeface="Georgia Pro Condensed Bold"/>
                  <a:sym typeface="Georgia Pro Condensed Bold"/>
                </a:rPr>
                <a:t>Target Variable</a:t>
              </a:r>
              <a:r>
                <a:rPr lang="en-US" sz="2499" spc="-37">
                  <a:solidFill>
                    <a:srgbClr val="000000"/>
                  </a:solidFill>
                  <a:latin typeface="Georgia Pro Condensed"/>
                  <a:ea typeface="Georgia Pro Condensed"/>
                  <a:cs typeface="Georgia Pro Condensed"/>
                  <a:sym typeface="Georgia Pro Condensed"/>
                </a:rPr>
                <a:t>: Churn (Yes/No) — 26.5% of customers churn, showing a 2.7:1 imbalance.</a:t>
              </a:r>
            </a:p>
            <a:p>
              <a:pPr algn="l" marL="539748" indent="-269874" lvl="1">
                <a:lnSpc>
                  <a:spcPts val="3899"/>
                </a:lnSpc>
                <a:buFont typeface="Arial"/>
                <a:buChar char="•"/>
              </a:pPr>
              <a:r>
                <a:rPr lang="en-US" b="true" sz="2499" spc="-37">
                  <a:solidFill>
                    <a:srgbClr val="000000"/>
                  </a:solidFill>
                  <a:latin typeface="Georgia Pro Condensed Bold"/>
                  <a:ea typeface="Georgia Pro Condensed Bold"/>
                  <a:cs typeface="Georgia Pro Condensed Bold"/>
                  <a:sym typeface="Georgia Pro Condensed Bold"/>
                </a:rPr>
                <a:t>Key Insights</a:t>
              </a:r>
              <a:r>
                <a:rPr lang="en-US" sz="2499" spc="-37">
                  <a:solidFill>
                    <a:srgbClr val="000000"/>
                  </a:solidFill>
                  <a:latin typeface="Georgia Pro Condensed"/>
                  <a:ea typeface="Georgia Pro Condensed"/>
                  <a:cs typeface="Georgia Pro Condensed"/>
                  <a:sym typeface="Georgia Pro Condensed"/>
                </a:rPr>
                <a:t>:</a:t>
              </a:r>
            </a:p>
            <a:p>
              <a:pPr algn="l" marL="1079496" indent="-359832" lvl="2">
                <a:lnSpc>
                  <a:spcPts val="3899"/>
                </a:lnSpc>
                <a:buFont typeface="Arial"/>
                <a:buChar char="⚬"/>
              </a:pPr>
              <a:r>
                <a:rPr lang="en-US" sz="2499" spc="-37">
                  <a:solidFill>
                    <a:srgbClr val="000000"/>
                  </a:solidFill>
                  <a:latin typeface="Georgia Pro Condensed"/>
                  <a:ea typeface="Georgia Pro Condensed"/>
                  <a:cs typeface="Georgia Pro Condensed"/>
                  <a:sym typeface="Georgia Pro Condensed"/>
                </a:rPr>
                <a:t>Dataset is gender balanced.</a:t>
              </a:r>
            </a:p>
            <a:p>
              <a:pPr algn="l" marL="1079496" indent="-359832" lvl="2">
                <a:lnSpc>
                  <a:spcPts val="3899"/>
                </a:lnSpc>
                <a:buFont typeface="Arial"/>
                <a:buChar char="⚬"/>
              </a:pPr>
              <a:r>
                <a:rPr lang="en-US" sz="2499" spc="-37">
                  <a:solidFill>
                    <a:srgbClr val="000000"/>
                  </a:solidFill>
                  <a:latin typeface="Georgia Pro Condensed"/>
                  <a:ea typeface="Georgia Pro Condensed"/>
                  <a:cs typeface="Georgia Pro Condensed"/>
                  <a:sym typeface="Georgia Pro Condensed"/>
                </a:rPr>
                <a:t>16% are senior citizens, meaning churn is mostly driven by younger customers.</a:t>
              </a:r>
            </a:p>
            <a:p>
              <a:pPr algn="l" marL="1079496" indent="-359832" lvl="2">
                <a:lnSpc>
                  <a:spcPts val="3899"/>
                </a:lnSpc>
                <a:buFont typeface="Arial"/>
                <a:buChar char="⚬"/>
              </a:pPr>
              <a:r>
                <a:rPr lang="en-US" sz="2499" spc="-37">
                  <a:solidFill>
                    <a:srgbClr val="000000"/>
                  </a:solidFill>
                  <a:latin typeface="Georgia Pro Condensed"/>
                  <a:ea typeface="Georgia Pro Condensed"/>
                  <a:cs typeface="Georgia Pro Condensed"/>
                  <a:sym typeface="Georgia Pro Condensed"/>
                </a:rPr>
                <a:t>Month-to-month contracts dominate, and these customers exhibit the highest churn.</a:t>
              </a:r>
            </a:p>
            <a:p>
              <a:pPr algn="l" marL="0" indent="0" lvl="0">
                <a:lnSpc>
                  <a:spcPts val="3899"/>
                </a:lnSpc>
              </a:pPr>
            </a:p>
            <a:p>
              <a:pPr algn="l" marL="0" indent="0" lvl="0">
                <a:lnSpc>
                  <a:spcPts val="3899"/>
                </a:lnSpc>
              </a:pPr>
            </a:p>
          </p:txBody>
        </p:sp>
      </p:grpSp>
      <p:sp>
        <p:nvSpPr>
          <p:cNvPr name="Freeform 9" id="9"/>
          <p:cNvSpPr/>
          <p:nvPr/>
        </p:nvSpPr>
        <p:spPr>
          <a:xfrm flipH="false" flipV="false" rot="0">
            <a:off x="9335137" y="1708543"/>
            <a:ext cx="8735033" cy="7238609"/>
          </a:xfrm>
          <a:custGeom>
            <a:avLst/>
            <a:gdLst/>
            <a:ahLst/>
            <a:cxnLst/>
            <a:rect r="r" b="b" t="t" l="l"/>
            <a:pathLst>
              <a:path h="7238609" w="8735033">
                <a:moveTo>
                  <a:pt x="0" y="0"/>
                </a:moveTo>
                <a:lnTo>
                  <a:pt x="8735033" y="0"/>
                </a:lnTo>
                <a:lnTo>
                  <a:pt x="8735033" y="7238609"/>
                </a:lnTo>
                <a:lnTo>
                  <a:pt x="0" y="7238609"/>
                </a:lnTo>
                <a:lnTo>
                  <a:pt x="0" y="0"/>
                </a:lnTo>
                <a:close/>
              </a:path>
            </a:pathLst>
          </a:custGeom>
          <a:blipFill>
            <a:blip r:embed="rId2"/>
            <a:stretch>
              <a:fillRect l="-1873" t="0" r="-1873"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9108041" y="1915301"/>
            <a:ext cx="9179959" cy="4968653"/>
          </a:xfrm>
          <a:custGeom>
            <a:avLst/>
            <a:gdLst/>
            <a:ahLst/>
            <a:cxnLst/>
            <a:rect r="r" b="b" t="t" l="l"/>
            <a:pathLst>
              <a:path h="4968653" w="9179959">
                <a:moveTo>
                  <a:pt x="0" y="0"/>
                </a:moveTo>
                <a:lnTo>
                  <a:pt x="9179959" y="0"/>
                </a:lnTo>
                <a:lnTo>
                  <a:pt x="9179959" y="4968653"/>
                </a:lnTo>
                <a:lnTo>
                  <a:pt x="0" y="4968653"/>
                </a:lnTo>
                <a:lnTo>
                  <a:pt x="0" y="0"/>
                </a:lnTo>
                <a:close/>
              </a:path>
            </a:pathLst>
          </a:custGeom>
          <a:blipFill>
            <a:blip r:embed="rId2"/>
            <a:stretch>
              <a:fillRect l="0" t="0" r="0" b="0"/>
            </a:stretch>
          </a:blipFill>
        </p:spPr>
      </p:sp>
      <p:sp>
        <p:nvSpPr>
          <p:cNvPr name="TextBox 3" id="3"/>
          <p:cNvSpPr txBox="true"/>
          <p:nvPr/>
        </p:nvSpPr>
        <p:spPr>
          <a:xfrm rot="0">
            <a:off x="462491" y="640820"/>
            <a:ext cx="12416518" cy="1727200"/>
          </a:xfrm>
          <a:prstGeom prst="rect">
            <a:avLst/>
          </a:prstGeom>
        </p:spPr>
        <p:txBody>
          <a:bodyPr anchor="t" rtlCol="false" tIns="0" lIns="0" bIns="0" rIns="0">
            <a:spAutoFit/>
          </a:bodyPr>
          <a:lstStyle/>
          <a:p>
            <a:pPr algn="l" marL="0" indent="0" lvl="0">
              <a:lnSpc>
                <a:spcPts val="5000"/>
              </a:lnSpc>
              <a:spcBef>
                <a:spcPct val="0"/>
              </a:spcBef>
            </a:pPr>
            <a:r>
              <a:rPr lang="en-US" sz="5000">
                <a:solidFill>
                  <a:srgbClr val="000000"/>
                </a:solidFill>
                <a:latin typeface="Georgia Pro Condensed"/>
                <a:ea typeface="Georgia Pro Condensed"/>
                <a:cs typeface="Georgia Pro Condensed"/>
                <a:sym typeface="Georgia Pro Condensed"/>
              </a:rPr>
              <a:t>Missing</a:t>
            </a:r>
            <a:r>
              <a:rPr lang="en-US" sz="5000" strike="noStrike" u="none">
                <a:solidFill>
                  <a:srgbClr val="000000"/>
                </a:solidFill>
                <a:latin typeface="Georgia Pro Condensed"/>
                <a:ea typeface="Georgia Pro Condensed"/>
                <a:cs typeface="Georgia Pro Condensed"/>
                <a:sym typeface="Georgia Pro Condensed"/>
              </a:rPr>
              <a:t> Data Analysis</a:t>
            </a:r>
          </a:p>
          <a:p>
            <a:pPr algn="l" marL="0" indent="0" lvl="0">
              <a:lnSpc>
                <a:spcPts val="8000"/>
              </a:lnSpc>
              <a:spcBef>
                <a:spcPct val="0"/>
              </a:spcBef>
            </a:pPr>
          </a:p>
        </p:txBody>
      </p:sp>
      <p:sp>
        <p:nvSpPr>
          <p:cNvPr name="TextBox 4" id="4"/>
          <p:cNvSpPr txBox="true"/>
          <p:nvPr/>
        </p:nvSpPr>
        <p:spPr>
          <a:xfrm rot="0">
            <a:off x="222252" y="819031"/>
            <a:ext cx="8968336" cy="9931223"/>
          </a:xfrm>
          <a:prstGeom prst="rect">
            <a:avLst/>
          </a:prstGeom>
        </p:spPr>
        <p:txBody>
          <a:bodyPr anchor="t" rtlCol="false" tIns="0" lIns="0" bIns="0" rIns="0">
            <a:spAutoFit/>
          </a:bodyPr>
          <a:lstStyle/>
          <a:p>
            <a:pPr algn="l">
              <a:lnSpc>
                <a:spcPts val="4374"/>
              </a:lnSpc>
            </a:pPr>
          </a:p>
          <a:p>
            <a:pPr algn="l" marL="633851" indent="-316925" lvl="1">
              <a:lnSpc>
                <a:spcPts val="4374"/>
              </a:lnSpc>
              <a:buFont typeface="Arial"/>
              <a:buChar char="•"/>
            </a:pPr>
            <a:r>
              <a:rPr lang="en-US" b="true" sz="2935" spc="-44" strike="noStrike" u="none">
                <a:solidFill>
                  <a:srgbClr val="000000"/>
                </a:solidFill>
                <a:latin typeface="Georgia Pro Condensed Bold"/>
                <a:ea typeface="Georgia Pro Condensed Bold"/>
                <a:cs typeface="Georgia Pro Condensed Bold"/>
                <a:sym typeface="Georgia Pro Condensed Bold"/>
              </a:rPr>
              <a:t>Finding</a:t>
            </a:r>
            <a:r>
              <a:rPr lang="en-US" sz="2935" spc="-44" strike="noStrike" u="none">
                <a:solidFill>
                  <a:srgbClr val="000000"/>
                </a:solidFill>
                <a:latin typeface="Georgia Pro Condensed"/>
                <a:ea typeface="Georgia Pro Condensed"/>
                <a:cs typeface="Georgia Pro Condensed"/>
                <a:sym typeface="Georgia Pro Condensed"/>
              </a:rPr>
              <a:t>: The only missing data in the dataset appeared in TotalCharges, with 11 records (0.16%) showing blanks.</a:t>
            </a:r>
          </a:p>
          <a:p>
            <a:pPr algn="l" marL="633851" indent="-316925" lvl="1">
              <a:lnSpc>
                <a:spcPts val="4374"/>
              </a:lnSpc>
              <a:buFont typeface="Arial"/>
              <a:buChar char="•"/>
            </a:pPr>
            <a:r>
              <a:rPr lang="en-US" b="true" sz="2935" spc="-44" strike="noStrike" u="none">
                <a:solidFill>
                  <a:srgbClr val="000000"/>
                </a:solidFill>
                <a:latin typeface="Georgia Pro Condensed Bold"/>
                <a:ea typeface="Georgia Pro Condensed Bold"/>
                <a:cs typeface="Georgia Pro Condensed Bold"/>
                <a:sym typeface="Georgia Pro Condensed Bold"/>
              </a:rPr>
              <a:t>Root</a:t>
            </a:r>
            <a:r>
              <a:rPr lang="en-US" sz="2935" spc="-44" strike="noStrike" u="none">
                <a:solidFill>
                  <a:srgbClr val="000000"/>
                </a:solidFill>
                <a:latin typeface="Georgia Pro Condensed"/>
                <a:ea typeface="Georgia Pro Condensed"/>
                <a:cs typeface="Georgia Pro Condensed"/>
                <a:sym typeface="Georgia Pro Condensed"/>
              </a:rPr>
              <a:t> </a:t>
            </a:r>
            <a:r>
              <a:rPr lang="en-US" b="true" sz="2935" spc="-44" strike="noStrike" u="none">
                <a:solidFill>
                  <a:srgbClr val="000000"/>
                </a:solidFill>
                <a:latin typeface="Georgia Pro Condensed Bold"/>
                <a:ea typeface="Georgia Pro Condensed Bold"/>
                <a:cs typeface="Georgia Pro Condensed Bold"/>
                <a:sym typeface="Georgia Pro Condensed Bold"/>
              </a:rPr>
              <a:t>Cause</a:t>
            </a:r>
            <a:r>
              <a:rPr lang="en-US" sz="2935" spc="-44" strike="noStrike" u="none">
                <a:solidFill>
                  <a:srgbClr val="000000"/>
                </a:solidFill>
                <a:latin typeface="Georgia Pro Condensed"/>
                <a:ea typeface="Georgia Pro Condensed"/>
                <a:cs typeface="Georgia Pro Condensed"/>
                <a:sym typeface="Georgia Pro Condensed"/>
              </a:rPr>
              <a:t>: All missing values belonged to customers with tenure = 0, indicating they had just joined and had not generated any billing yet.</a:t>
            </a:r>
          </a:p>
          <a:p>
            <a:pPr algn="l" marL="633851" indent="-316925" lvl="1">
              <a:lnSpc>
                <a:spcPts val="4374"/>
              </a:lnSpc>
              <a:buFont typeface="Arial"/>
              <a:buChar char="•"/>
            </a:pPr>
            <a:r>
              <a:rPr lang="en-US" b="true" sz="2935" spc="-44" strike="noStrike" u="none">
                <a:solidFill>
                  <a:srgbClr val="000000"/>
                </a:solidFill>
                <a:latin typeface="Georgia Pro Condensed Bold"/>
                <a:ea typeface="Georgia Pro Condensed Bold"/>
                <a:cs typeface="Georgia Pro Condensed Bold"/>
                <a:sym typeface="Georgia Pro Condensed Bold"/>
              </a:rPr>
              <a:t>Solution</a:t>
            </a:r>
            <a:r>
              <a:rPr lang="en-US" sz="2935" spc="-44" strike="noStrike" u="none">
                <a:solidFill>
                  <a:srgbClr val="000000"/>
                </a:solidFill>
                <a:latin typeface="Georgia Pro Condensed"/>
                <a:ea typeface="Georgia Pro Condensed"/>
                <a:cs typeface="Georgia Pro Condensed"/>
                <a:sym typeface="Georgia Pro Condensed"/>
              </a:rPr>
              <a:t> </a:t>
            </a:r>
            <a:r>
              <a:rPr lang="en-US" b="true" sz="2935" spc="-44" strike="noStrike" u="none">
                <a:solidFill>
                  <a:srgbClr val="000000"/>
                </a:solidFill>
                <a:latin typeface="Georgia Pro Condensed Bold"/>
                <a:ea typeface="Georgia Pro Condensed Bold"/>
                <a:cs typeface="Georgia Pro Condensed Bold"/>
                <a:sym typeface="Georgia Pro Condensed Bold"/>
              </a:rPr>
              <a:t>Applied</a:t>
            </a:r>
            <a:r>
              <a:rPr lang="en-US" sz="2935" spc="-44" strike="noStrike" u="none">
                <a:solidFill>
                  <a:srgbClr val="000000"/>
                </a:solidFill>
                <a:latin typeface="Georgia Pro Condensed"/>
                <a:ea typeface="Georgia Pro Condensed"/>
                <a:cs typeface="Georgia Pro Condensed"/>
                <a:sym typeface="Georgia Pro Condensed"/>
              </a:rPr>
              <a:t>:</a:t>
            </a:r>
          </a:p>
          <a:p>
            <a:pPr algn="l" marL="1267701" indent="-422567" lvl="2">
              <a:lnSpc>
                <a:spcPts val="4374"/>
              </a:lnSpc>
              <a:buFont typeface="Arial"/>
              <a:buChar char="⚬"/>
            </a:pPr>
            <a:r>
              <a:rPr lang="en-US" sz="2935" spc="-44" strike="noStrike" u="none">
                <a:solidFill>
                  <a:srgbClr val="000000"/>
                </a:solidFill>
                <a:latin typeface="Georgia Pro Condensed"/>
                <a:ea typeface="Georgia Pro Condensed"/>
                <a:cs typeface="Georgia Pro Condensed"/>
                <a:sym typeface="Georgia Pro Condensed"/>
              </a:rPr>
              <a:t>A conditional imputation was used by assigning TotalCharges = 0 for all tenure-0 customers, reflecting their lack of prior charges.</a:t>
            </a:r>
          </a:p>
          <a:p>
            <a:pPr algn="l" marL="1267701" indent="-422567" lvl="2">
              <a:lnSpc>
                <a:spcPts val="4374"/>
              </a:lnSpc>
              <a:buFont typeface="Arial"/>
              <a:buChar char="⚬"/>
            </a:pPr>
            <a:r>
              <a:rPr lang="en-US" sz="2935" spc="-44" strike="noStrike" u="none">
                <a:solidFill>
                  <a:srgbClr val="000000"/>
                </a:solidFill>
                <a:latin typeface="Georgia Pro Condensed"/>
                <a:ea typeface="Georgia Pro Condensed"/>
                <a:cs typeface="Georgia Pro Condensed"/>
                <a:sym typeface="Georgia Pro Condensed"/>
              </a:rPr>
              <a:t>For the few remaining gaps, median imputation ensured consistency without distorting the distribution.</a:t>
            </a:r>
          </a:p>
          <a:p>
            <a:pPr algn="l" marL="633851" indent="-316925" lvl="1">
              <a:lnSpc>
                <a:spcPts val="4374"/>
              </a:lnSpc>
              <a:buFont typeface="Arial"/>
              <a:buChar char="•"/>
            </a:pPr>
            <a:r>
              <a:rPr lang="en-US" b="true" sz="2935" spc="-44" strike="noStrike" u="none">
                <a:solidFill>
                  <a:srgbClr val="000000"/>
                </a:solidFill>
                <a:latin typeface="Georgia Pro Condensed Bold"/>
                <a:ea typeface="Georgia Pro Condensed Bold"/>
                <a:cs typeface="Georgia Pro Condensed Bold"/>
                <a:sym typeface="Georgia Pro Condensed Bold"/>
              </a:rPr>
              <a:t>Result</a:t>
            </a:r>
            <a:r>
              <a:rPr lang="en-US" sz="2935" spc="-44" strike="noStrike" u="none">
                <a:solidFill>
                  <a:srgbClr val="000000"/>
                </a:solidFill>
                <a:latin typeface="Georgia Pro Condensed"/>
                <a:ea typeface="Georgia Pro Condensed"/>
                <a:cs typeface="Georgia Pro Condensed"/>
                <a:sym typeface="Georgia Pro Condensed"/>
              </a:rPr>
              <a:t>: After these steps, the dataset had no missing values, making it ready for modeling and analysis.</a:t>
            </a:r>
          </a:p>
          <a:p>
            <a:pPr algn="l">
              <a:lnSpc>
                <a:spcPts val="4374"/>
              </a:lnSpc>
            </a:pPr>
          </a:p>
          <a:p>
            <a:pPr algn="l">
              <a:lnSpc>
                <a:spcPts val="4374"/>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1676446"/>
            <a:ext cx="15516225" cy="4219490"/>
          </a:xfrm>
          <a:custGeom>
            <a:avLst/>
            <a:gdLst/>
            <a:ahLst/>
            <a:cxnLst/>
            <a:rect r="r" b="b" t="t" l="l"/>
            <a:pathLst>
              <a:path h="4219490" w="15516225">
                <a:moveTo>
                  <a:pt x="0" y="0"/>
                </a:moveTo>
                <a:lnTo>
                  <a:pt x="15516225" y="0"/>
                </a:lnTo>
                <a:lnTo>
                  <a:pt x="15516225" y="4219490"/>
                </a:lnTo>
                <a:lnTo>
                  <a:pt x="0" y="4219490"/>
                </a:lnTo>
                <a:lnTo>
                  <a:pt x="0" y="0"/>
                </a:lnTo>
                <a:close/>
              </a:path>
            </a:pathLst>
          </a:custGeom>
          <a:blipFill>
            <a:blip r:embed="rId2"/>
            <a:stretch>
              <a:fillRect l="0" t="-332" r="0" b="-332"/>
            </a:stretch>
          </a:blipFill>
        </p:spPr>
      </p:sp>
      <p:sp>
        <p:nvSpPr>
          <p:cNvPr name="Freeform 3" id="3"/>
          <p:cNvSpPr/>
          <p:nvPr/>
        </p:nvSpPr>
        <p:spPr>
          <a:xfrm flipH="false" flipV="false" rot="0">
            <a:off x="4824417" y="6114187"/>
            <a:ext cx="8639165" cy="3484809"/>
          </a:xfrm>
          <a:custGeom>
            <a:avLst/>
            <a:gdLst/>
            <a:ahLst/>
            <a:cxnLst/>
            <a:rect r="r" b="b" t="t" l="l"/>
            <a:pathLst>
              <a:path h="3484809" w="8639165">
                <a:moveTo>
                  <a:pt x="0" y="0"/>
                </a:moveTo>
                <a:lnTo>
                  <a:pt x="8639166" y="0"/>
                </a:lnTo>
                <a:lnTo>
                  <a:pt x="8639166" y="3484809"/>
                </a:lnTo>
                <a:lnTo>
                  <a:pt x="0" y="3484809"/>
                </a:lnTo>
                <a:lnTo>
                  <a:pt x="0" y="0"/>
                </a:lnTo>
                <a:close/>
              </a:path>
            </a:pathLst>
          </a:custGeom>
          <a:blipFill>
            <a:blip r:embed="rId3"/>
            <a:stretch>
              <a:fillRect l="-51452" t="0" r="0" b="-2548"/>
            </a:stretch>
          </a:blipFill>
        </p:spPr>
      </p:sp>
      <p:grpSp>
        <p:nvGrpSpPr>
          <p:cNvPr name="Group 4" id="4"/>
          <p:cNvGrpSpPr/>
          <p:nvPr/>
        </p:nvGrpSpPr>
        <p:grpSpPr>
          <a:xfrm rot="0">
            <a:off x="393945" y="471534"/>
            <a:ext cx="15516225" cy="2409825"/>
            <a:chOff x="0" y="0"/>
            <a:chExt cx="20688300" cy="3213100"/>
          </a:xfrm>
        </p:grpSpPr>
        <p:sp>
          <p:nvSpPr>
            <p:cNvPr name="TextBox 5" id="5"/>
            <p:cNvSpPr txBox="true"/>
            <p:nvPr/>
          </p:nvSpPr>
          <p:spPr>
            <a:xfrm rot="0">
              <a:off x="0" y="28575"/>
              <a:ext cx="20688300" cy="1910292"/>
            </a:xfrm>
            <a:prstGeom prst="rect">
              <a:avLst/>
            </a:prstGeom>
          </p:spPr>
          <p:txBody>
            <a:bodyPr anchor="t" rtlCol="false" tIns="0" lIns="0" bIns="0" rIns="0">
              <a:spAutoFit/>
            </a:bodyPr>
            <a:lstStyle/>
            <a:p>
              <a:pPr algn="l" marL="0" indent="0" lvl="0">
                <a:lnSpc>
                  <a:spcPts val="5500"/>
                </a:lnSpc>
              </a:pPr>
              <a:r>
                <a:rPr lang="en-US" sz="5000" spc="-150">
                  <a:solidFill>
                    <a:srgbClr val="000000"/>
                  </a:solidFill>
                  <a:latin typeface="Georgia Pro Condensed"/>
                  <a:ea typeface="Georgia Pro Condensed"/>
                  <a:cs typeface="Georgia Pro Condensed"/>
                  <a:sym typeface="Georgia Pro Condensed"/>
                </a:rPr>
                <a:t>Explorat</a:t>
              </a:r>
              <a:r>
                <a:rPr lang="en-US" sz="5000" spc="-150">
                  <a:solidFill>
                    <a:srgbClr val="000000"/>
                  </a:solidFill>
                  <a:latin typeface="Georgia Pro Condensed"/>
                  <a:ea typeface="Georgia Pro Condensed"/>
                  <a:cs typeface="Georgia Pro Condensed"/>
                  <a:sym typeface="Georgia Pro Condensed"/>
                </a:rPr>
                <a:t>ory Data Analysis - Feature Distributions</a:t>
              </a:r>
            </a:p>
            <a:p>
              <a:pPr algn="l" marL="0" indent="0" lvl="0">
                <a:lnSpc>
                  <a:spcPts val="5500"/>
                </a:lnSpc>
              </a:pPr>
            </a:p>
          </p:txBody>
        </p:sp>
        <p:sp>
          <p:nvSpPr>
            <p:cNvPr name="TextBox 6" id="6"/>
            <p:cNvSpPr txBox="true"/>
            <p:nvPr/>
          </p:nvSpPr>
          <p:spPr>
            <a:xfrm rot="0">
              <a:off x="0" y="2686050"/>
              <a:ext cx="14481810" cy="527050"/>
            </a:xfrm>
            <a:prstGeom prst="rect">
              <a:avLst/>
            </a:prstGeom>
          </p:spPr>
          <p:txBody>
            <a:bodyPr anchor="t" rtlCol="false" tIns="0" lIns="0" bIns="0" rIns="0">
              <a:spAutoFit/>
            </a:bodyPr>
            <a:lstStyle/>
            <a:p>
              <a:pPr algn="l" marL="0" indent="0" lvl="0">
                <a:lnSpc>
                  <a:spcPts val="3000"/>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280857" y="545613"/>
            <a:ext cx="12180670" cy="9741387"/>
            <a:chOff x="0" y="0"/>
            <a:chExt cx="16240893" cy="12988516"/>
          </a:xfrm>
        </p:grpSpPr>
        <p:sp>
          <p:nvSpPr>
            <p:cNvPr name="TextBox 3" id="3"/>
            <p:cNvSpPr txBox="true"/>
            <p:nvPr/>
          </p:nvSpPr>
          <p:spPr>
            <a:xfrm rot="0">
              <a:off x="0" y="-47625"/>
              <a:ext cx="16240893" cy="2023461"/>
            </a:xfrm>
            <a:prstGeom prst="rect">
              <a:avLst/>
            </a:prstGeom>
          </p:spPr>
          <p:txBody>
            <a:bodyPr anchor="t" rtlCol="false" tIns="0" lIns="0" bIns="0" rIns="0">
              <a:spAutoFit/>
            </a:bodyPr>
            <a:lstStyle/>
            <a:p>
              <a:pPr algn="l" marL="0" indent="0" lvl="0">
                <a:lnSpc>
                  <a:spcPts val="6116"/>
                </a:lnSpc>
              </a:pPr>
              <a:r>
                <a:rPr lang="en-US" sz="4704" spc="-141">
                  <a:solidFill>
                    <a:srgbClr val="000000"/>
                  </a:solidFill>
                  <a:latin typeface="Georgia Pro Condensed"/>
                  <a:ea typeface="Georgia Pro Condensed"/>
                  <a:cs typeface="Georgia Pro Condensed"/>
                  <a:sym typeface="Georgia Pro Condensed"/>
                </a:rPr>
                <a:t>Target Variable A</a:t>
              </a:r>
              <a:r>
                <a:rPr lang="en-US" sz="4704" spc="-141">
                  <a:solidFill>
                    <a:srgbClr val="000000"/>
                  </a:solidFill>
                  <a:latin typeface="Georgia Pro Condensed"/>
                  <a:ea typeface="Georgia Pro Condensed"/>
                  <a:cs typeface="Georgia Pro Condensed"/>
                  <a:sym typeface="Georgia Pro Condensed"/>
                </a:rPr>
                <a:t>nalysis - Class Imbalance</a:t>
              </a:r>
            </a:p>
            <a:p>
              <a:pPr algn="l" marL="0" indent="0" lvl="0">
                <a:lnSpc>
                  <a:spcPts val="6116"/>
                </a:lnSpc>
              </a:pPr>
            </a:p>
          </p:txBody>
        </p:sp>
        <p:sp>
          <p:nvSpPr>
            <p:cNvPr name="TextBox 4" id="4"/>
            <p:cNvSpPr txBox="true"/>
            <p:nvPr/>
          </p:nvSpPr>
          <p:spPr>
            <a:xfrm rot="0">
              <a:off x="0" y="883143"/>
              <a:ext cx="13699577" cy="12105374"/>
            </a:xfrm>
            <a:prstGeom prst="rect">
              <a:avLst/>
            </a:prstGeom>
          </p:spPr>
          <p:txBody>
            <a:bodyPr anchor="t" rtlCol="false" tIns="0" lIns="0" bIns="0" rIns="0">
              <a:spAutoFit/>
            </a:bodyPr>
            <a:lstStyle/>
            <a:p>
              <a:pPr algn="l">
                <a:lnSpc>
                  <a:spcPts val="4562"/>
                </a:lnSpc>
              </a:pPr>
            </a:p>
            <a:p>
              <a:pPr algn="l" marL="656680" indent="-328340" lvl="1">
                <a:lnSpc>
                  <a:spcPts val="4562"/>
                </a:lnSpc>
                <a:buFont typeface="Arial"/>
                <a:buChar char="•"/>
              </a:pPr>
              <a:r>
                <a:rPr lang="en-US" b="true" sz="3041" spc="-45">
                  <a:solidFill>
                    <a:srgbClr val="000000"/>
                  </a:solidFill>
                  <a:latin typeface="Georgia Pro Condensed Bold"/>
                  <a:ea typeface="Georgia Pro Condensed Bold"/>
                  <a:cs typeface="Georgia Pro Condensed Bold"/>
                  <a:sym typeface="Georgia Pro Condensed Bold"/>
                </a:rPr>
                <a:t>Distribution</a:t>
              </a:r>
              <a:r>
                <a:rPr lang="en-US" sz="3041" spc="-45">
                  <a:solidFill>
                    <a:srgbClr val="000000"/>
                  </a:solidFill>
                  <a:latin typeface="Georgia Pro Condensed"/>
                  <a:ea typeface="Georgia Pro Condensed"/>
                  <a:cs typeface="Georgia Pro Condensed"/>
                  <a:sym typeface="Georgia Pro Condensed"/>
                </a:rPr>
                <a:t>: </a:t>
              </a:r>
              <a:r>
                <a:rPr lang="en-US" sz="3041" spc="-45">
                  <a:solidFill>
                    <a:srgbClr val="000000"/>
                  </a:solidFill>
                  <a:latin typeface="Georgia Pro Condensed"/>
                  <a:ea typeface="Georgia Pro Condensed"/>
                  <a:cs typeface="Georgia Pro Condensed"/>
                  <a:sym typeface="Georgia Pro Condensed"/>
                </a:rPr>
                <a:t>The dataset is moderately imbalanced, with 5,174 customers who did not churn (73.5%) and 1,869 who did churn (26.5%).</a:t>
              </a:r>
            </a:p>
            <a:p>
              <a:pPr algn="l" marL="656680" indent="-328340" lvl="1">
                <a:lnSpc>
                  <a:spcPts val="4562"/>
                </a:lnSpc>
                <a:buFont typeface="Arial"/>
                <a:buChar char="•"/>
              </a:pPr>
              <a:r>
                <a:rPr lang="en-US" b="true" sz="3041" spc="-45">
                  <a:solidFill>
                    <a:srgbClr val="000000"/>
                  </a:solidFill>
                  <a:latin typeface="Georgia Pro Condensed Bold"/>
                  <a:ea typeface="Georgia Pro Condensed Bold"/>
                  <a:cs typeface="Georgia Pro Condensed Bold"/>
                  <a:sym typeface="Georgia Pro Condensed Bold"/>
                </a:rPr>
                <a:t>Imbalance</a:t>
              </a:r>
              <a:r>
                <a:rPr lang="en-US" sz="3041" spc="-45">
                  <a:solidFill>
                    <a:srgbClr val="000000"/>
                  </a:solidFill>
                  <a:latin typeface="Georgia Pro Condensed"/>
                  <a:ea typeface="Georgia Pro Condensed"/>
                  <a:cs typeface="Georgia Pro Condensed"/>
                  <a:sym typeface="Georgia Pro Condensed"/>
                </a:rPr>
                <a:t> </a:t>
              </a:r>
              <a:r>
                <a:rPr lang="en-US" b="true" sz="3041" spc="-45">
                  <a:solidFill>
                    <a:srgbClr val="000000"/>
                  </a:solidFill>
                  <a:latin typeface="Georgia Pro Condensed Bold"/>
                  <a:ea typeface="Georgia Pro Condensed Bold"/>
                  <a:cs typeface="Georgia Pro Condensed Bold"/>
                  <a:sym typeface="Georgia Pro Condensed Bold"/>
                </a:rPr>
                <a:t>Ratio</a:t>
              </a:r>
              <a:r>
                <a:rPr lang="en-US" sz="3041" spc="-45">
                  <a:solidFill>
                    <a:srgbClr val="000000"/>
                  </a:solidFill>
                  <a:latin typeface="Georgia Pro Condensed"/>
                  <a:ea typeface="Georgia Pro Condensed"/>
                  <a:cs typeface="Georgia Pro Condensed"/>
                  <a:sym typeface="Georgia Pro Condensed"/>
                </a:rPr>
                <a:t>: This creates a 2.7:1 </a:t>
              </a:r>
              <a:r>
                <a:rPr lang="en-US" sz="3041" spc="-45">
                  <a:solidFill>
                    <a:srgbClr val="000000"/>
                  </a:solidFill>
                  <a:latin typeface="Georgia Pro Condensed"/>
                  <a:ea typeface="Georgia Pro Condensed"/>
                  <a:cs typeface="Georgia Pro Condensed"/>
                  <a:sym typeface="Georgia Pro Condensed"/>
                </a:rPr>
                <a:t>im</a:t>
              </a:r>
              <a:r>
                <a:rPr lang="en-US" sz="3041" spc="-45">
                  <a:solidFill>
                    <a:srgbClr val="000000"/>
                  </a:solidFill>
                  <a:latin typeface="Georgia Pro Condensed"/>
                  <a:ea typeface="Georgia Pro Condensed"/>
                  <a:cs typeface="Georgia Pro Condensed"/>
                  <a:sym typeface="Georgia Pro Condensed"/>
                </a:rPr>
                <a:t>balance, meaning churners are significantly under-re</a:t>
              </a:r>
              <a:r>
                <a:rPr lang="en-US" sz="3041" spc="-45">
                  <a:solidFill>
                    <a:srgbClr val="000000"/>
                  </a:solidFill>
                  <a:latin typeface="Georgia Pro Condensed"/>
                  <a:ea typeface="Georgia Pro Condensed"/>
                  <a:cs typeface="Georgia Pro Condensed"/>
                  <a:sym typeface="Georgia Pro Condensed"/>
                </a:rPr>
                <a:t>pr</a:t>
              </a:r>
              <a:r>
                <a:rPr lang="en-US" sz="3041" spc="-45">
                  <a:solidFill>
                    <a:srgbClr val="000000"/>
                  </a:solidFill>
                  <a:latin typeface="Georgia Pro Condensed"/>
                  <a:ea typeface="Georgia Pro Condensed"/>
                  <a:cs typeface="Georgia Pro Condensed"/>
                  <a:sym typeface="Georgia Pro Condensed"/>
                </a:rPr>
                <a:t>esen</a:t>
              </a:r>
              <a:r>
                <a:rPr lang="en-US" sz="3041" spc="-45">
                  <a:solidFill>
                    <a:srgbClr val="000000"/>
                  </a:solidFill>
                  <a:latin typeface="Georgia Pro Condensed"/>
                  <a:ea typeface="Georgia Pro Condensed"/>
                  <a:cs typeface="Georgia Pro Condensed"/>
                  <a:sym typeface="Georgia Pro Condensed"/>
                </a:rPr>
                <a:t>t</a:t>
              </a:r>
              <a:r>
                <a:rPr lang="en-US" sz="3041" spc="-45">
                  <a:solidFill>
                    <a:srgbClr val="000000"/>
                  </a:solidFill>
                  <a:latin typeface="Georgia Pro Condensed"/>
                  <a:ea typeface="Georgia Pro Condensed"/>
                  <a:cs typeface="Georgia Pro Condensed"/>
                  <a:sym typeface="Georgia Pro Condensed"/>
                </a:rPr>
                <a:t>ed comp</a:t>
              </a:r>
              <a:r>
                <a:rPr lang="en-US" sz="3041" spc="-45">
                  <a:solidFill>
                    <a:srgbClr val="000000"/>
                  </a:solidFill>
                  <a:latin typeface="Georgia Pro Condensed"/>
                  <a:ea typeface="Georgia Pro Condensed"/>
                  <a:cs typeface="Georgia Pro Condensed"/>
                  <a:sym typeface="Georgia Pro Condensed"/>
                </a:rPr>
                <a:t>a</a:t>
              </a:r>
              <a:r>
                <a:rPr lang="en-US" sz="3041" spc="-45">
                  <a:solidFill>
                    <a:srgbClr val="000000"/>
                  </a:solidFill>
                  <a:latin typeface="Georgia Pro Condensed"/>
                  <a:ea typeface="Georgia Pro Condensed"/>
                  <a:cs typeface="Georgia Pro Condensed"/>
                  <a:sym typeface="Georgia Pro Condensed"/>
                </a:rPr>
                <a:t>red to no</a:t>
              </a:r>
              <a:r>
                <a:rPr lang="en-US" sz="3041" spc="-45">
                  <a:solidFill>
                    <a:srgbClr val="000000"/>
                  </a:solidFill>
                  <a:latin typeface="Georgia Pro Condensed"/>
                  <a:ea typeface="Georgia Pro Condensed"/>
                  <a:cs typeface="Georgia Pro Condensed"/>
                  <a:sym typeface="Georgia Pro Condensed"/>
                </a:rPr>
                <a:t>n</a:t>
              </a:r>
              <a:r>
                <a:rPr lang="en-US" sz="3041" spc="-45">
                  <a:solidFill>
                    <a:srgbClr val="000000"/>
                  </a:solidFill>
                  <a:latin typeface="Georgia Pro Condensed"/>
                  <a:ea typeface="Georgia Pro Condensed"/>
                  <a:cs typeface="Georgia Pro Condensed"/>
                  <a:sym typeface="Georgia Pro Condensed"/>
                </a:rPr>
                <a:t>-</a:t>
              </a:r>
              <a:r>
                <a:rPr lang="en-US" sz="3041" spc="-45">
                  <a:solidFill>
                    <a:srgbClr val="000000"/>
                  </a:solidFill>
                  <a:latin typeface="Georgia Pro Condensed"/>
                  <a:ea typeface="Georgia Pro Condensed"/>
                  <a:cs typeface="Georgia Pro Condensed"/>
                  <a:sym typeface="Georgia Pro Condensed"/>
                </a:rPr>
                <a:t>c</a:t>
              </a:r>
              <a:r>
                <a:rPr lang="en-US" sz="3041" spc="-45">
                  <a:solidFill>
                    <a:srgbClr val="000000"/>
                  </a:solidFill>
                  <a:latin typeface="Georgia Pro Condensed"/>
                  <a:ea typeface="Georgia Pro Condensed"/>
                  <a:cs typeface="Georgia Pro Condensed"/>
                  <a:sym typeface="Georgia Pro Condensed"/>
                </a:rPr>
                <a:t>hurn</a:t>
              </a:r>
              <a:r>
                <a:rPr lang="en-US" sz="3041" spc="-45">
                  <a:solidFill>
                    <a:srgbClr val="000000"/>
                  </a:solidFill>
                  <a:latin typeface="Georgia Pro Condensed"/>
                  <a:ea typeface="Georgia Pro Condensed"/>
                  <a:cs typeface="Georgia Pro Condensed"/>
                  <a:sym typeface="Georgia Pro Condensed"/>
                </a:rPr>
                <a:t>e</a:t>
              </a:r>
              <a:r>
                <a:rPr lang="en-US" sz="3041" spc="-45">
                  <a:solidFill>
                    <a:srgbClr val="000000"/>
                  </a:solidFill>
                  <a:latin typeface="Georgia Pro Condensed"/>
                  <a:ea typeface="Georgia Pro Condensed"/>
                  <a:cs typeface="Georgia Pro Condensed"/>
                  <a:sym typeface="Georgia Pro Condensed"/>
                </a:rPr>
                <a:t>rs.</a:t>
              </a:r>
            </a:p>
            <a:p>
              <a:pPr algn="l" marL="656680" indent="-328340" lvl="1">
                <a:lnSpc>
                  <a:spcPts val="4562"/>
                </a:lnSpc>
                <a:buFont typeface="Arial"/>
                <a:buChar char="•"/>
              </a:pPr>
              <a:r>
                <a:rPr lang="en-US" b="true" sz="3041" spc="-45">
                  <a:solidFill>
                    <a:srgbClr val="000000"/>
                  </a:solidFill>
                  <a:latin typeface="Georgia Pro Condensed Bold"/>
                  <a:ea typeface="Georgia Pro Condensed Bold"/>
                  <a:cs typeface="Georgia Pro Condensed Bold"/>
                  <a:sym typeface="Georgia Pro Condensed Bold"/>
                </a:rPr>
                <a:t>Solution</a:t>
              </a:r>
              <a:r>
                <a:rPr lang="en-US" sz="3041" spc="-45">
                  <a:solidFill>
                    <a:srgbClr val="000000"/>
                  </a:solidFill>
                  <a:latin typeface="Georgia Pro Condensed"/>
                  <a:ea typeface="Georgia Pro Condensed"/>
                  <a:cs typeface="Georgia Pro Condensed"/>
                  <a:sym typeface="Georgia Pro Condensed"/>
                </a:rPr>
                <a:t> </a:t>
              </a:r>
              <a:r>
                <a:rPr lang="en-US" b="true" sz="3041" spc="-45">
                  <a:solidFill>
                    <a:srgbClr val="000000"/>
                  </a:solidFill>
                  <a:latin typeface="Georgia Pro Condensed Bold"/>
                  <a:ea typeface="Georgia Pro Condensed Bold"/>
                  <a:cs typeface="Georgia Pro Condensed Bold"/>
                  <a:sym typeface="Georgia Pro Condensed Bold"/>
                </a:rPr>
                <a:t>Applied</a:t>
              </a:r>
              <a:r>
                <a:rPr lang="en-US" sz="3041" spc="-45">
                  <a:solidFill>
                    <a:srgbClr val="000000"/>
                  </a:solidFill>
                  <a:latin typeface="Georgia Pro Condensed"/>
                  <a:ea typeface="Georgia Pro Condensed"/>
                  <a:cs typeface="Georgia Pro Condensed"/>
                  <a:sym typeface="Georgia Pro Condensed"/>
                </a:rPr>
                <a:t>:</a:t>
              </a:r>
            </a:p>
            <a:p>
              <a:pPr algn="l" marL="1313360" indent="-437787" lvl="2">
                <a:lnSpc>
                  <a:spcPts val="4562"/>
                </a:lnSpc>
                <a:buFont typeface="Arial"/>
                <a:buChar char="⚬"/>
              </a:pPr>
              <a:r>
                <a:rPr lang="en-US" sz="3041" spc="-45">
                  <a:solidFill>
                    <a:srgbClr val="000000"/>
                  </a:solidFill>
                  <a:latin typeface="Georgia Pro Condensed"/>
                  <a:ea typeface="Georgia Pro Condensed"/>
                  <a:cs typeface="Georgia Pro Condensed"/>
                  <a:sym typeface="Georgia Pro Condensed"/>
                </a:rPr>
                <a:t>Used class_we</a:t>
              </a:r>
              <a:r>
                <a:rPr lang="en-US" sz="3041" spc="-45">
                  <a:solidFill>
                    <a:srgbClr val="000000"/>
                  </a:solidFill>
                  <a:latin typeface="Georgia Pro Condensed"/>
                  <a:ea typeface="Georgia Pro Condensed"/>
                  <a:cs typeface="Georgia Pro Condensed"/>
                  <a:sym typeface="Georgia Pro Condensed"/>
                </a:rPr>
                <a:t>i</a:t>
              </a:r>
              <a:r>
                <a:rPr lang="en-US" sz="3041" spc="-45">
                  <a:solidFill>
                    <a:srgbClr val="000000"/>
                  </a:solidFill>
                  <a:latin typeface="Georgia Pro Condensed"/>
                  <a:ea typeface="Georgia Pro Condensed"/>
                  <a:cs typeface="Georgia Pro Condensed"/>
                  <a:sym typeface="Georgia Pro Condensed"/>
                </a:rPr>
                <a:t>ght=‘balan</a:t>
              </a:r>
              <a:r>
                <a:rPr lang="en-US" sz="3041" spc="-45">
                  <a:solidFill>
                    <a:srgbClr val="000000"/>
                  </a:solidFill>
                  <a:latin typeface="Georgia Pro Condensed"/>
                  <a:ea typeface="Georgia Pro Condensed"/>
                  <a:cs typeface="Georgia Pro Condensed"/>
                  <a:sym typeface="Georgia Pro Condensed"/>
                </a:rPr>
                <a:t>c</a:t>
              </a:r>
              <a:r>
                <a:rPr lang="en-US" sz="3041" spc="-45">
                  <a:solidFill>
                    <a:srgbClr val="000000"/>
                  </a:solidFill>
                  <a:latin typeface="Georgia Pro Condensed"/>
                  <a:ea typeface="Georgia Pro Condensed"/>
                  <a:cs typeface="Georgia Pro Condensed"/>
                  <a:sym typeface="Georgia Pro Condensed"/>
                </a:rPr>
                <a:t>ed’ </a:t>
              </a:r>
              <a:r>
                <a:rPr lang="en-US" sz="3041" spc="-45">
                  <a:solidFill>
                    <a:srgbClr val="000000"/>
                  </a:solidFill>
                  <a:latin typeface="Georgia Pro Condensed"/>
                  <a:ea typeface="Georgia Pro Condensed"/>
                  <a:cs typeface="Georgia Pro Condensed"/>
                  <a:sym typeface="Georgia Pro Condensed"/>
                </a:rPr>
                <a:t>t</a:t>
              </a:r>
              <a:r>
                <a:rPr lang="en-US" sz="3041" spc="-45">
                  <a:solidFill>
                    <a:srgbClr val="000000"/>
                  </a:solidFill>
                  <a:latin typeface="Georgia Pro Condensed"/>
                  <a:ea typeface="Georgia Pro Condensed"/>
                  <a:cs typeface="Georgia Pro Condensed"/>
                  <a:sym typeface="Georgia Pro Condensed"/>
                </a:rPr>
                <a:t>o ensure th</a:t>
              </a:r>
              <a:r>
                <a:rPr lang="en-US" sz="3041" spc="-45">
                  <a:solidFill>
                    <a:srgbClr val="000000"/>
                  </a:solidFill>
                  <a:latin typeface="Georgia Pro Condensed"/>
                  <a:ea typeface="Georgia Pro Condensed"/>
                  <a:cs typeface="Georgia Pro Condensed"/>
                  <a:sym typeface="Georgia Pro Condensed"/>
                </a:rPr>
                <a:t>e model</a:t>
              </a:r>
              <a:r>
                <a:rPr lang="en-US" sz="3041" spc="-45">
                  <a:solidFill>
                    <a:srgbClr val="000000"/>
                  </a:solidFill>
                  <a:latin typeface="Georgia Pro Condensed"/>
                  <a:ea typeface="Georgia Pro Condensed"/>
                  <a:cs typeface="Georgia Pro Condensed"/>
                  <a:sym typeface="Georgia Pro Condensed"/>
                </a:rPr>
                <a:t> pay</a:t>
              </a:r>
              <a:r>
                <a:rPr lang="en-US" sz="3041" spc="-45">
                  <a:solidFill>
                    <a:srgbClr val="000000"/>
                  </a:solidFill>
                  <a:latin typeface="Georgia Pro Condensed"/>
                  <a:ea typeface="Georgia Pro Condensed"/>
                  <a:cs typeface="Georgia Pro Condensed"/>
                  <a:sym typeface="Georgia Pro Condensed"/>
                </a:rPr>
                <a:t>s</a:t>
              </a:r>
              <a:r>
                <a:rPr lang="en-US" sz="3041" spc="-45">
                  <a:solidFill>
                    <a:srgbClr val="000000"/>
                  </a:solidFill>
                  <a:latin typeface="Georgia Pro Condensed"/>
                  <a:ea typeface="Georgia Pro Condensed"/>
                  <a:cs typeface="Georgia Pro Condensed"/>
                  <a:sym typeface="Georgia Pro Condensed"/>
                </a:rPr>
                <a:t> equal attention to minority churn cases.</a:t>
              </a:r>
            </a:p>
            <a:p>
              <a:pPr algn="l" marL="1313360" indent="-437787" lvl="2">
                <a:lnSpc>
                  <a:spcPts val="4562"/>
                </a:lnSpc>
                <a:buFont typeface="Arial"/>
                <a:buChar char="⚬"/>
              </a:pPr>
              <a:r>
                <a:rPr lang="en-US" sz="3041" spc="-45">
                  <a:solidFill>
                    <a:srgbClr val="000000"/>
                  </a:solidFill>
                  <a:latin typeface="Georgia Pro Condensed"/>
                  <a:ea typeface="Georgia Pro Condensed"/>
                  <a:cs typeface="Georgia Pro Condensed"/>
                  <a:sym typeface="Georgia Pro Condensed"/>
                </a:rPr>
                <a:t>Prioritized F1-score and Recall, since identifying churners is more important than overall accuracy.</a:t>
              </a:r>
            </a:p>
            <a:p>
              <a:pPr algn="l" marL="1313360" indent="-437787" lvl="2">
                <a:lnSpc>
                  <a:spcPts val="4562"/>
                </a:lnSpc>
                <a:buFont typeface="Arial"/>
                <a:buChar char="⚬"/>
              </a:pPr>
              <a:r>
                <a:rPr lang="en-US" sz="3041" spc="-45">
                  <a:solidFill>
                    <a:srgbClr val="000000"/>
                  </a:solidFill>
                  <a:latin typeface="Georgia Pro Condensed"/>
                  <a:ea typeface="Georgia Pro Condensed"/>
                  <a:cs typeface="Georgia Pro Condensed"/>
                  <a:sym typeface="Georgia Pro Condensed"/>
                </a:rPr>
                <a:t>Employed a stratified train–test split to preserve the original churn proportions in both sets.</a:t>
              </a:r>
            </a:p>
            <a:p>
              <a:pPr algn="l" marL="0" indent="0" lvl="0">
                <a:lnSpc>
                  <a:spcPts val="4562"/>
                </a:lnSpc>
              </a:pPr>
            </a:p>
            <a:p>
              <a:pPr algn="l" marL="0" indent="0" lvl="0">
                <a:lnSpc>
                  <a:spcPts val="4562"/>
                </a:lnSpc>
              </a:pPr>
            </a:p>
          </p:txBody>
        </p:sp>
      </p:grpSp>
      <p:sp>
        <p:nvSpPr>
          <p:cNvPr name="Freeform 5" id="5"/>
          <p:cNvSpPr/>
          <p:nvPr/>
        </p:nvSpPr>
        <p:spPr>
          <a:xfrm flipH="false" flipV="false" rot="0">
            <a:off x="10637714" y="167746"/>
            <a:ext cx="7650286" cy="4707209"/>
          </a:xfrm>
          <a:custGeom>
            <a:avLst/>
            <a:gdLst/>
            <a:ahLst/>
            <a:cxnLst/>
            <a:rect r="r" b="b" t="t" l="l"/>
            <a:pathLst>
              <a:path h="4707209" w="7650286">
                <a:moveTo>
                  <a:pt x="0" y="0"/>
                </a:moveTo>
                <a:lnTo>
                  <a:pt x="7650286" y="0"/>
                </a:lnTo>
                <a:lnTo>
                  <a:pt x="7650286" y="4707209"/>
                </a:lnTo>
                <a:lnTo>
                  <a:pt x="0" y="4707209"/>
                </a:lnTo>
                <a:lnTo>
                  <a:pt x="0" y="0"/>
                </a:lnTo>
                <a:close/>
              </a:path>
            </a:pathLst>
          </a:custGeom>
          <a:blipFill>
            <a:blip r:embed="rId2"/>
            <a:stretch>
              <a:fillRect l="0" t="0" r="-57768" b="0"/>
            </a:stretch>
          </a:blipFill>
        </p:spPr>
      </p:sp>
      <p:sp>
        <p:nvSpPr>
          <p:cNvPr name="Freeform 6" id="6"/>
          <p:cNvSpPr/>
          <p:nvPr/>
        </p:nvSpPr>
        <p:spPr>
          <a:xfrm flipH="false" flipV="false" rot="0">
            <a:off x="12053007" y="5143500"/>
            <a:ext cx="4371381" cy="5015500"/>
          </a:xfrm>
          <a:custGeom>
            <a:avLst/>
            <a:gdLst/>
            <a:ahLst/>
            <a:cxnLst/>
            <a:rect r="r" b="b" t="t" l="l"/>
            <a:pathLst>
              <a:path h="5015500" w="4371381">
                <a:moveTo>
                  <a:pt x="0" y="0"/>
                </a:moveTo>
                <a:lnTo>
                  <a:pt x="4371381" y="0"/>
                </a:lnTo>
                <a:lnTo>
                  <a:pt x="4371381" y="5015500"/>
                </a:lnTo>
                <a:lnTo>
                  <a:pt x="0" y="5015500"/>
                </a:lnTo>
                <a:lnTo>
                  <a:pt x="0" y="0"/>
                </a:lnTo>
                <a:close/>
              </a:path>
            </a:pathLst>
          </a:custGeom>
          <a:blipFill>
            <a:blip r:embed="rId2"/>
            <a:stretch>
              <a:fillRect l="-193752" t="0" r="-439" b="0"/>
            </a:stretch>
          </a:blipFill>
        </p:spPr>
      </p:sp>
    </p:spTree>
  </p:cSld>
  <p:clrMapOvr>
    <a:masterClrMapping/>
  </p:clrMapOvr>
</p:sld>
</file>

<file path=ppt/slides/slide7.xml><?xml version="1.0" encoding="utf-8"?>
<p:sld xmlns:p="http://schemas.openxmlformats.org/presentationml/2006/main" xmlns:a="http://schemas.openxmlformats.org/drawingml/2006/main">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441454" y="410634"/>
            <a:ext cx="6688336" cy="822325"/>
          </a:xfrm>
          <a:prstGeom prst="rect">
            <a:avLst/>
          </a:prstGeom>
        </p:spPr>
        <p:txBody>
          <a:bodyPr anchor="t" rtlCol="false" tIns="0" lIns="0" bIns="0" rIns="0">
            <a:spAutoFit/>
          </a:bodyPr>
          <a:lstStyle/>
          <a:p>
            <a:pPr algn="ctr">
              <a:lnSpc>
                <a:spcPts val="6500"/>
              </a:lnSpc>
              <a:spcBef>
                <a:spcPct val="0"/>
              </a:spcBef>
            </a:pPr>
            <a:r>
              <a:rPr lang="en-US" sz="5000" spc="-150">
                <a:solidFill>
                  <a:srgbClr val="000000"/>
                </a:solidFill>
                <a:latin typeface="Georgia Pro Condensed"/>
                <a:ea typeface="Georgia Pro Condensed"/>
                <a:cs typeface="Georgia Pro Condensed"/>
                <a:sym typeface="Georgia Pro Condensed"/>
              </a:rPr>
              <a:t>Data Preprocessing Pipeline</a:t>
            </a:r>
          </a:p>
        </p:txBody>
      </p:sp>
      <p:sp>
        <p:nvSpPr>
          <p:cNvPr name="TextBox 3" id="3"/>
          <p:cNvSpPr txBox="true"/>
          <p:nvPr/>
        </p:nvSpPr>
        <p:spPr>
          <a:xfrm rot="0">
            <a:off x="728793" y="1527675"/>
            <a:ext cx="16230600" cy="7571527"/>
          </a:xfrm>
          <a:prstGeom prst="rect">
            <a:avLst/>
          </a:prstGeom>
        </p:spPr>
        <p:txBody>
          <a:bodyPr anchor="t" rtlCol="false" tIns="0" lIns="0" bIns="0" rIns="0">
            <a:spAutoFit/>
          </a:bodyPr>
          <a:lstStyle/>
          <a:p>
            <a:pPr algn="l">
              <a:lnSpc>
                <a:spcPts val="3986"/>
              </a:lnSpc>
              <a:spcBef>
                <a:spcPct val="0"/>
              </a:spcBef>
            </a:pPr>
            <a:r>
              <a:rPr lang="en-US" b="true" sz="3066" spc="-92">
                <a:solidFill>
                  <a:srgbClr val="000000"/>
                </a:solidFill>
                <a:latin typeface="Georgia Pro Condensed Bold"/>
                <a:ea typeface="Georgia Pro Condensed Bold"/>
                <a:cs typeface="Georgia Pro Condensed Bold"/>
                <a:sym typeface="Georgia Pro Condensed Bold"/>
              </a:rPr>
              <a:t>Step</a:t>
            </a:r>
            <a:r>
              <a:rPr lang="en-US" sz="3066" spc="-92">
                <a:solidFill>
                  <a:srgbClr val="000000"/>
                </a:solidFill>
                <a:latin typeface="Georgia Pro Condensed"/>
                <a:ea typeface="Georgia Pro Condensed"/>
                <a:cs typeface="Georgia Pro Condensed"/>
                <a:sym typeface="Georgia Pro Condensed"/>
              </a:rPr>
              <a:t> </a:t>
            </a:r>
            <a:r>
              <a:rPr lang="en-US" b="true" sz="3066" spc="-92">
                <a:solidFill>
                  <a:srgbClr val="000000"/>
                </a:solidFill>
                <a:latin typeface="Georgia Pro Condensed Bold"/>
                <a:ea typeface="Georgia Pro Condensed Bold"/>
                <a:cs typeface="Georgia Pro Condensed Bold"/>
                <a:sym typeface="Georgia Pro Condensed Bold"/>
              </a:rPr>
              <a:t>1</a:t>
            </a:r>
            <a:r>
              <a:rPr lang="en-US" sz="3066" spc="-92">
                <a:solidFill>
                  <a:srgbClr val="000000"/>
                </a:solidFill>
                <a:latin typeface="Georgia Pro Condensed"/>
                <a:ea typeface="Georgia Pro Condensed"/>
                <a:cs typeface="Georgia Pro Condensed"/>
                <a:sym typeface="Georgia Pro Condensed"/>
              </a:rPr>
              <a:t>: Remove non-predictive features: The customerID column was dropped since it does not contribute to churn prediction and only serves as an identifier.</a:t>
            </a:r>
          </a:p>
          <a:p>
            <a:pPr algn="l">
              <a:lnSpc>
                <a:spcPts val="3986"/>
              </a:lnSpc>
              <a:spcBef>
                <a:spcPct val="0"/>
              </a:spcBef>
            </a:pPr>
          </a:p>
          <a:p>
            <a:pPr algn="l">
              <a:lnSpc>
                <a:spcPts val="3986"/>
              </a:lnSpc>
              <a:spcBef>
                <a:spcPct val="0"/>
              </a:spcBef>
            </a:pPr>
            <a:r>
              <a:rPr lang="en-US" b="true" sz="3066" spc="-92">
                <a:solidFill>
                  <a:srgbClr val="000000"/>
                </a:solidFill>
                <a:latin typeface="Georgia Pro Condensed Bold"/>
                <a:ea typeface="Georgia Pro Condensed Bold"/>
                <a:cs typeface="Georgia Pro Condensed Bold"/>
                <a:sym typeface="Georgia Pro Condensed Bold"/>
              </a:rPr>
              <a:t>Step</a:t>
            </a:r>
            <a:r>
              <a:rPr lang="en-US" sz="3066" spc="-92">
                <a:solidFill>
                  <a:srgbClr val="000000"/>
                </a:solidFill>
                <a:latin typeface="Georgia Pro Condensed"/>
                <a:ea typeface="Georgia Pro Condensed"/>
                <a:cs typeface="Georgia Pro Condensed"/>
                <a:sym typeface="Georgia Pro Condensed"/>
              </a:rPr>
              <a:t> </a:t>
            </a:r>
            <a:r>
              <a:rPr lang="en-US" b="true" sz="3066" spc="-92">
                <a:solidFill>
                  <a:srgbClr val="000000"/>
                </a:solidFill>
                <a:latin typeface="Georgia Pro Condensed Bold"/>
                <a:ea typeface="Georgia Pro Condensed Bold"/>
                <a:cs typeface="Georgia Pro Condensed Bold"/>
                <a:sym typeface="Georgia Pro Condensed Bold"/>
              </a:rPr>
              <a:t>2</a:t>
            </a:r>
            <a:r>
              <a:rPr lang="en-US" sz="3066" spc="-92">
                <a:solidFill>
                  <a:srgbClr val="000000"/>
                </a:solidFill>
                <a:latin typeface="Georgia Pro Condensed"/>
                <a:ea typeface="Georgia Pro Condensed"/>
                <a:cs typeface="Georgia Pro Condensed"/>
                <a:sym typeface="Georgia Pro Condensed"/>
              </a:rPr>
              <a:t>: Encode target variable: The churn outcome was converted into numerical form (No = 0, Yes = 1) to make it compatible with machine learning models.</a:t>
            </a:r>
          </a:p>
          <a:p>
            <a:pPr algn="l">
              <a:lnSpc>
                <a:spcPts val="3986"/>
              </a:lnSpc>
              <a:spcBef>
                <a:spcPct val="0"/>
              </a:spcBef>
            </a:pPr>
          </a:p>
          <a:p>
            <a:pPr algn="l">
              <a:lnSpc>
                <a:spcPts val="3986"/>
              </a:lnSpc>
              <a:spcBef>
                <a:spcPct val="0"/>
              </a:spcBef>
            </a:pPr>
            <a:r>
              <a:rPr lang="en-US" b="true" sz="3066" spc="-92">
                <a:solidFill>
                  <a:srgbClr val="000000"/>
                </a:solidFill>
                <a:latin typeface="Georgia Pro Condensed Bold"/>
                <a:ea typeface="Georgia Pro Condensed Bold"/>
                <a:cs typeface="Georgia Pro Condensed Bold"/>
                <a:sym typeface="Georgia Pro Condensed Bold"/>
              </a:rPr>
              <a:t>Step 3</a:t>
            </a:r>
            <a:r>
              <a:rPr lang="en-US" sz="3066" spc="-92">
                <a:solidFill>
                  <a:srgbClr val="000000"/>
                </a:solidFill>
                <a:latin typeface="Georgia Pro Condensed"/>
                <a:ea typeface="Georgia Pro Condensed"/>
                <a:cs typeface="Georgia Pro Condensed"/>
                <a:sym typeface="Georgia Pro Condensed"/>
              </a:rPr>
              <a:t>: Feature Encoding:</a:t>
            </a:r>
          </a:p>
          <a:p>
            <a:pPr algn="l">
              <a:lnSpc>
                <a:spcPts val="3986"/>
              </a:lnSpc>
              <a:spcBef>
                <a:spcPct val="0"/>
              </a:spcBef>
            </a:pPr>
            <a:r>
              <a:rPr lang="en-US" sz="3066" spc="-92">
                <a:solidFill>
                  <a:srgbClr val="000000"/>
                </a:solidFill>
                <a:latin typeface="Georgia Pro Condensed"/>
                <a:ea typeface="Georgia Pro Condensed"/>
                <a:cs typeface="Georgia Pro Condensed"/>
                <a:sym typeface="Georgia Pro Condensed"/>
              </a:rPr>
              <a:t>Binary features</a:t>
            </a:r>
            <a:r>
              <a:rPr lang="en-US" sz="3066" spc="-92">
                <a:solidFill>
                  <a:srgbClr val="000000"/>
                </a:solidFill>
                <a:latin typeface="Georgia Pro Condensed"/>
                <a:ea typeface="Georgia Pro Condensed"/>
                <a:cs typeface="Georgia Pro Condensed"/>
                <a:sym typeface="Georgia Pro Condensed"/>
              </a:rPr>
              <a:t> (e.g., gender, partner, phone service) were transformed using </a:t>
            </a:r>
            <a:r>
              <a:rPr lang="en-US" b="true" sz="3066" spc="-92">
                <a:solidFill>
                  <a:srgbClr val="000000"/>
                </a:solidFill>
                <a:latin typeface="Georgia Pro Condensed Bold"/>
                <a:ea typeface="Georgia Pro Condensed Bold"/>
                <a:cs typeface="Georgia Pro Condensed Bold"/>
                <a:sym typeface="Georgia Pro Condensed Bold"/>
              </a:rPr>
              <a:t>Label Encoding</a:t>
            </a:r>
            <a:r>
              <a:rPr lang="en-US" sz="3066" spc="-92">
                <a:solidFill>
                  <a:srgbClr val="000000"/>
                </a:solidFill>
                <a:latin typeface="Georgia Pro Condensed"/>
                <a:ea typeface="Georgia Pro Condensed"/>
                <a:cs typeface="Georgia Pro Condensed"/>
                <a:sym typeface="Georgia Pro Condensed"/>
              </a:rPr>
              <a:t>.</a:t>
            </a:r>
          </a:p>
          <a:p>
            <a:pPr algn="l">
              <a:lnSpc>
                <a:spcPts val="3986"/>
              </a:lnSpc>
              <a:spcBef>
                <a:spcPct val="0"/>
              </a:spcBef>
            </a:pPr>
            <a:r>
              <a:rPr lang="en-US" sz="3066" spc="-92">
                <a:solidFill>
                  <a:srgbClr val="000000"/>
                </a:solidFill>
                <a:latin typeface="Georgia Pro Condensed"/>
                <a:ea typeface="Georgia Pro Condensed"/>
                <a:cs typeface="Georgia Pro Condensed"/>
                <a:sym typeface="Georgia Pro Condensed"/>
              </a:rPr>
              <a:t>Multi-class features</a:t>
            </a:r>
            <a:r>
              <a:rPr lang="en-US" sz="3066" spc="-92">
                <a:solidFill>
                  <a:srgbClr val="000000"/>
                </a:solidFill>
                <a:latin typeface="Georgia Pro Condensed"/>
                <a:ea typeface="Georgia Pro Condensed"/>
                <a:cs typeface="Georgia Pro Condensed"/>
                <a:sym typeface="Georgia Pro Condensed"/>
              </a:rPr>
              <a:t> (such as contract type, internet service, payment method) were expanded using </a:t>
            </a:r>
          </a:p>
          <a:p>
            <a:pPr algn="l">
              <a:lnSpc>
                <a:spcPts val="3986"/>
              </a:lnSpc>
              <a:spcBef>
                <a:spcPct val="0"/>
              </a:spcBef>
            </a:pPr>
            <a:r>
              <a:rPr lang="en-US" b="true" sz="3066" spc="-92">
                <a:solidFill>
                  <a:srgbClr val="000000"/>
                </a:solidFill>
                <a:latin typeface="Georgia Pro Condensed Bold"/>
                <a:ea typeface="Georgia Pro Condensed Bold"/>
                <a:cs typeface="Georgia Pro Condensed Bold"/>
                <a:sym typeface="Georgia Pro Condensed Bold"/>
              </a:rPr>
              <a:t>One-Hot Encoding</a:t>
            </a:r>
            <a:r>
              <a:rPr lang="en-US" sz="3066" spc="-92">
                <a:solidFill>
                  <a:srgbClr val="000000"/>
                </a:solidFill>
                <a:latin typeface="Georgia Pro Condensed"/>
                <a:ea typeface="Georgia Pro Condensed"/>
                <a:cs typeface="Georgia Pro Condensed"/>
                <a:sym typeface="Georgia Pro Condensed"/>
              </a:rPr>
              <a:t> to capture each category properly.</a:t>
            </a:r>
          </a:p>
          <a:p>
            <a:pPr algn="l">
              <a:lnSpc>
                <a:spcPts val="3986"/>
              </a:lnSpc>
              <a:spcBef>
                <a:spcPct val="0"/>
              </a:spcBef>
            </a:pPr>
          </a:p>
          <a:p>
            <a:pPr algn="l">
              <a:lnSpc>
                <a:spcPts val="3986"/>
              </a:lnSpc>
              <a:spcBef>
                <a:spcPct val="0"/>
              </a:spcBef>
            </a:pPr>
            <a:r>
              <a:rPr lang="en-US" b="true" sz="3066" spc="-92">
                <a:solidFill>
                  <a:srgbClr val="000000"/>
                </a:solidFill>
                <a:latin typeface="Georgia Pro Condensed Bold"/>
                <a:ea typeface="Georgia Pro Condensed Bold"/>
                <a:cs typeface="Georgia Pro Condensed Bold"/>
                <a:sym typeface="Georgia Pro Condensed Bold"/>
              </a:rPr>
              <a:t>Step 4</a:t>
            </a:r>
            <a:r>
              <a:rPr lang="en-US" sz="3066" spc="-92">
                <a:solidFill>
                  <a:srgbClr val="000000"/>
                </a:solidFill>
                <a:latin typeface="Georgia Pro Condensed"/>
                <a:ea typeface="Georgia Pro Condensed"/>
                <a:cs typeface="Georgia Pro Condensed"/>
                <a:sym typeface="Georgia Pro Condensed"/>
              </a:rPr>
              <a:t>: Feature Scaling: Applied StandardScaler to numerical features—tenure, MonthlyCharges, TotalCharges, and SeniorCitizen—to normalize their ranges and improve model performance.</a:t>
            </a:r>
          </a:p>
          <a:p>
            <a:pPr algn="l">
              <a:lnSpc>
                <a:spcPts val="3986"/>
              </a:lnSpc>
              <a:spcBef>
                <a:spcPct val="0"/>
              </a:spcBef>
            </a:pPr>
          </a:p>
          <a:p>
            <a:pPr algn="l">
              <a:lnSpc>
                <a:spcPts val="3986"/>
              </a:lnSpc>
              <a:spcBef>
                <a:spcPct val="0"/>
              </a:spcBef>
            </a:pPr>
            <a:r>
              <a:rPr lang="en-US" b="true" sz="3066" spc="-92">
                <a:solidFill>
                  <a:srgbClr val="000000"/>
                </a:solidFill>
                <a:latin typeface="Georgia Pro Condensed Bold"/>
                <a:ea typeface="Georgia Pro Condensed Bold"/>
                <a:cs typeface="Georgia Pro Condensed Bold"/>
                <a:sym typeface="Georgia Pro Condensed Bold"/>
              </a:rPr>
              <a:t>Result</a:t>
            </a:r>
            <a:r>
              <a:rPr lang="en-US" sz="3066" spc="-92">
                <a:solidFill>
                  <a:srgbClr val="000000"/>
                </a:solidFill>
                <a:latin typeface="Georgia Pro Condensed"/>
                <a:ea typeface="Georgia Pro Condensed"/>
                <a:cs typeface="Georgia Pro Condensed"/>
                <a:sym typeface="Georgia Pro Condensed"/>
              </a:rPr>
              <a:t>: After preprocessing, the dataset expanded to 7,042 samples and 49 features, ready for modeling.</a:t>
            </a:r>
          </a:p>
        </p:txBody>
      </p:sp>
    </p:spTree>
  </p:cSld>
  <p:clrMapOvr>
    <a:masterClrMapping/>
  </p:clrMapOvr>
</p:sld>
</file>

<file path=ppt/slides/slide8.xml><?xml version="1.0" encoding="utf-8"?>
<p:sld xmlns:p="http://schemas.openxmlformats.org/presentationml/2006/main" xmlns:a="http://schemas.openxmlformats.org/drawingml/2006/main">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406397" y="334010"/>
            <a:ext cx="11315700" cy="822325"/>
          </a:xfrm>
          <a:prstGeom prst="rect">
            <a:avLst/>
          </a:prstGeom>
        </p:spPr>
        <p:txBody>
          <a:bodyPr anchor="t" rtlCol="false" tIns="0" lIns="0" bIns="0" rIns="0">
            <a:spAutoFit/>
          </a:bodyPr>
          <a:lstStyle/>
          <a:p>
            <a:pPr algn="ctr">
              <a:lnSpc>
                <a:spcPts val="6500"/>
              </a:lnSpc>
              <a:spcBef>
                <a:spcPct val="0"/>
              </a:spcBef>
            </a:pPr>
            <a:r>
              <a:rPr lang="en-US" sz="5000" spc="-150">
                <a:solidFill>
                  <a:srgbClr val="000000"/>
                </a:solidFill>
                <a:latin typeface="Georgia Pro Condensed"/>
                <a:ea typeface="Georgia Pro Condensed"/>
                <a:cs typeface="Georgia Pro Condensed"/>
                <a:sym typeface="Georgia Pro Condensed"/>
              </a:rPr>
              <a:t>Machine Learning Approach &amp; Model Selection</a:t>
            </a:r>
          </a:p>
        </p:txBody>
      </p:sp>
      <p:sp>
        <p:nvSpPr>
          <p:cNvPr name="TextBox 3" id="3"/>
          <p:cNvSpPr txBox="true"/>
          <p:nvPr/>
        </p:nvSpPr>
        <p:spPr>
          <a:xfrm rot="0">
            <a:off x="406397" y="1127760"/>
            <a:ext cx="16230600" cy="8130540"/>
          </a:xfrm>
          <a:prstGeom prst="rect">
            <a:avLst/>
          </a:prstGeom>
        </p:spPr>
        <p:txBody>
          <a:bodyPr anchor="t" rtlCol="false" tIns="0" lIns="0" bIns="0" rIns="0">
            <a:spAutoFit/>
          </a:bodyPr>
          <a:lstStyle/>
          <a:p>
            <a:pPr algn="l">
              <a:lnSpc>
                <a:spcPts val="4289"/>
              </a:lnSpc>
            </a:pPr>
          </a:p>
          <a:p>
            <a:pPr algn="l" marL="712467" indent="-356233" lvl="1">
              <a:lnSpc>
                <a:spcPts val="4289"/>
              </a:lnSpc>
              <a:buFont typeface="Arial"/>
              <a:buChar char="•"/>
            </a:pPr>
            <a:r>
              <a:rPr lang="en-US" sz="3299" spc="-98">
                <a:solidFill>
                  <a:srgbClr val="000000"/>
                </a:solidFill>
                <a:latin typeface="Georgia Pro Condensed"/>
                <a:ea typeface="Georgia Pro Condensed"/>
                <a:cs typeface="Georgia Pro Condensed"/>
                <a:sym typeface="Georgia Pro Condensed"/>
              </a:rPr>
              <a:t>A supervised binary classification framework was used to predict whether a customer would churn or stay.</a:t>
            </a:r>
          </a:p>
          <a:p>
            <a:pPr algn="l" marL="712467" indent="-356233" lvl="1">
              <a:lnSpc>
                <a:spcPts val="4289"/>
              </a:lnSpc>
              <a:spcBef>
                <a:spcPct val="0"/>
              </a:spcBef>
              <a:buFont typeface="Arial"/>
              <a:buChar char="•"/>
            </a:pPr>
            <a:r>
              <a:rPr lang="en-US" sz="3299" spc="-98">
                <a:solidFill>
                  <a:srgbClr val="000000"/>
                </a:solidFill>
                <a:latin typeface="Georgia Pro Condensed"/>
                <a:ea typeface="Georgia Pro Condensed"/>
                <a:cs typeface="Georgia Pro Condensed"/>
                <a:sym typeface="Georgia Pro Condensed"/>
              </a:rPr>
              <a:t>An 80–20 stratified Train–Test split was used so the churn ratio stays consistent, resulting in 5,633 training samples and 1,409 testing samples.</a:t>
            </a:r>
          </a:p>
          <a:p>
            <a:pPr algn="l">
              <a:lnSpc>
                <a:spcPts val="4289"/>
              </a:lnSpc>
              <a:spcBef>
                <a:spcPct val="0"/>
              </a:spcBef>
            </a:pPr>
          </a:p>
          <a:p>
            <a:pPr algn="l">
              <a:lnSpc>
                <a:spcPts val="4289"/>
              </a:lnSpc>
              <a:spcBef>
                <a:spcPct val="0"/>
              </a:spcBef>
            </a:pPr>
            <a:r>
              <a:rPr lang="en-US" sz="3299" spc="-98">
                <a:solidFill>
                  <a:srgbClr val="000000"/>
                </a:solidFill>
                <a:latin typeface="Georgia Pro Condensed"/>
                <a:ea typeface="Georgia Pro Condensed"/>
                <a:cs typeface="Georgia Pro Condensed"/>
                <a:sym typeface="Georgia Pro Condensed"/>
              </a:rPr>
              <a:t>Models Selected:</a:t>
            </a:r>
          </a:p>
          <a:p>
            <a:pPr algn="l" marL="712467" indent="-356233" lvl="1">
              <a:lnSpc>
                <a:spcPts val="4289"/>
              </a:lnSpc>
              <a:buFont typeface="Arial"/>
              <a:buChar char="•"/>
            </a:pPr>
            <a:r>
              <a:rPr lang="en-US" sz="3299" spc="-98">
                <a:solidFill>
                  <a:srgbClr val="000000"/>
                </a:solidFill>
                <a:latin typeface="Georgia Pro Condensed"/>
                <a:ea typeface="Georgia Pro Condensed"/>
                <a:cs typeface="Georgia Pro Condensed"/>
                <a:sym typeface="Georgia Pro Condensed"/>
              </a:rPr>
              <a:t>Logistic Regression – A clear, interpretable baseline to understand directional effects of features.</a:t>
            </a:r>
          </a:p>
          <a:p>
            <a:pPr algn="l" marL="712467" indent="-356233" lvl="1">
              <a:lnSpc>
                <a:spcPts val="4289"/>
              </a:lnSpc>
              <a:buFont typeface="Arial"/>
              <a:buChar char="•"/>
            </a:pPr>
            <a:r>
              <a:rPr lang="en-US" sz="3299" spc="-98">
                <a:solidFill>
                  <a:srgbClr val="000000"/>
                </a:solidFill>
                <a:latin typeface="Georgia Pro Condensed"/>
                <a:ea typeface="Georgia Pro Condensed"/>
                <a:cs typeface="Georgia Pro Condensed"/>
                <a:sym typeface="Georgia Pro Condensed"/>
              </a:rPr>
              <a:t>Decision Tree – Captures simple non-linear relationships and is easy to explain (max_depth = 5).</a:t>
            </a:r>
          </a:p>
          <a:p>
            <a:pPr algn="l" marL="712467" indent="-356233" lvl="1">
              <a:lnSpc>
                <a:spcPts val="4289"/>
              </a:lnSpc>
              <a:buFont typeface="Arial"/>
              <a:buChar char="•"/>
            </a:pPr>
            <a:r>
              <a:rPr lang="en-US" sz="3299" spc="-98">
                <a:solidFill>
                  <a:srgbClr val="000000"/>
                </a:solidFill>
                <a:latin typeface="Georgia Pro Condensed"/>
                <a:ea typeface="Georgia Pro Condensed"/>
                <a:cs typeface="Georgia Pro Condensed"/>
                <a:sym typeface="Georgia Pro Condensed"/>
              </a:rPr>
              <a:t>Random Forest – A more stable ensemble approach using 100 trees for better generalization.</a:t>
            </a:r>
          </a:p>
          <a:p>
            <a:pPr algn="l" marL="712467" indent="-356233" lvl="1">
              <a:lnSpc>
                <a:spcPts val="4289"/>
              </a:lnSpc>
              <a:buFont typeface="Arial"/>
              <a:buChar char="•"/>
            </a:pPr>
            <a:r>
              <a:rPr lang="en-US" sz="3299" spc="-98">
                <a:solidFill>
                  <a:srgbClr val="000000"/>
                </a:solidFill>
                <a:latin typeface="Georgia Pro Condensed"/>
                <a:ea typeface="Georgia Pro Condensed"/>
                <a:cs typeface="Georgia Pro Condensed"/>
                <a:sym typeface="Georgia Pro Condensed"/>
              </a:rPr>
              <a:t>Gradient Boosting – Powerful ensemble that improves by learning from errors.</a:t>
            </a:r>
          </a:p>
          <a:p>
            <a:pPr algn="l" marL="712467" indent="-356233" lvl="1">
              <a:lnSpc>
                <a:spcPts val="4289"/>
              </a:lnSpc>
              <a:buFont typeface="Arial"/>
              <a:buChar char="•"/>
            </a:pPr>
            <a:r>
              <a:rPr lang="en-US" sz="3299" spc="-98">
                <a:solidFill>
                  <a:srgbClr val="000000"/>
                </a:solidFill>
                <a:latin typeface="Georgia Pro Condensed"/>
                <a:ea typeface="Georgia Pro Condensed"/>
                <a:cs typeface="Georgia Pro Condensed"/>
                <a:sym typeface="Georgia Pro Condensed"/>
              </a:rPr>
              <a:t>SVM – Useful for modeling complex decision boundaries in higher-dimensional space.</a:t>
            </a:r>
          </a:p>
          <a:p>
            <a:pPr algn="l">
              <a:lnSpc>
                <a:spcPts val="4289"/>
              </a:lnSpc>
            </a:pPr>
          </a:p>
          <a:p>
            <a:pPr algn="l">
              <a:lnSpc>
                <a:spcPts val="4289"/>
              </a:lnSpc>
              <a:spcBef>
                <a:spcPct val="0"/>
              </a:spcBef>
            </a:pPr>
            <a:r>
              <a:rPr lang="en-US" sz="3299" spc="-98">
                <a:solidFill>
                  <a:srgbClr val="000000"/>
                </a:solidFill>
                <a:latin typeface="Georgia Pro Condensed"/>
                <a:ea typeface="Georgia Pro Condensed"/>
                <a:cs typeface="Georgia Pro Condensed"/>
                <a:sym typeface="Georgia Pro Condensed"/>
              </a:rPr>
              <a:t>Imbalance Handling: All models were trained with class_weight=‘balanced’ to counter the 2.7:1 ratio and ensure churn cases are properly learned.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graphicFrame>
        <p:nvGraphicFramePr>
          <p:cNvPr name="Object 2" id="2"/>
          <p:cNvGraphicFramePr/>
          <p:nvPr/>
        </p:nvGraphicFramePr>
        <p:xfrm>
          <a:off x="2548742" y="1657506"/>
          <a:ext cx="12444412" cy="3771900"/>
        </p:xfrm>
        <a:graphic>
          <a:graphicData uri="http://schemas.openxmlformats.org/presentationml/2006/ole">
            <p:oleObj imgW="14935200" imgH="62484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3" id="3"/>
          <p:cNvSpPr/>
          <p:nvPr/>
        </p:nvSpPr>
        <p:spPr>
          <a:xfrm flipH="false" flipV="false" rot="0">
            <a:off x="0" y="6082801"/>
            <a:ext cx="4680458" cy="3476580"/>
          </a:xfrm>
          <a:custGeom>
            <a:avLst/>
            <a:gdLst/>
            <a:ahLst/>
            <a:cxnLst/>
            <a:rect r="r" b="b" t="t" l="l"/>
            <a:pathLst>
              <a:path h="3476580" w="4680458">
                <a:moveTo>
                  <a:pt x="0" y="0"/>
                </a:moveTo>
                <a:lnTo>
                  <a:pt x="4680458" y="0"/>
                </a:lnTo>
                <a:lnTo>
                  <a:pt x="4680458" y="3476580"/>
                </a:lnTo>
                <a:lnTo>
                  <a:pt x="0" y="3476580"/>
                </a:lnTo>
                <a:lnTo>
                  <a:pt x="0" y="0"/>
                </a:lnTo>
                <a:close/>
              </a:path>
            </a:pathLst>
          </a:custGeom>
          <a:blipFill>
            <a:blip r:embed="rId4"/>
            <a:stretch>
              <a:fillRect l="0" t="0" r="-99107" b="-100594"/>
            </a:stretch>
          </a:blipFill>
        </p:spPr>
      </p:sp>
      <p:sp>
        <p:nvSpPr>
          <p:cNvPr name="Freeform 4" id="4"/>
          <p:cNvSpPr/>
          <p:nvPr/>
        </p:nvSpPr>
        <p:spPr>
          <a:xfrm flipH="false" flipV="false" rot="0">
            <a:off x="4680458" y="6082801"/>
            <a:ext cx="4662869" cy="3476580"/>
          </a:xfrm>
          <a:custGeom>
            <a:avLst/>
            <a:gdLst/>
            <a:ahLst/>
            <a:cxnLst/>
            <a:rect r="r" b="b" t="t" l="l"/>
            <a:pathLst>
              <a:path h="3476580" w="4662869">
                <a:moveTo>
                  <a:pt x="0" y="0"/>
                </a:moveTo>
                <a:lnTo>
                  <a:pt x="4662869" y="0"/>
                </a:lnTo>
                <a:lnTo>
                  <a:pt x="4662869" y="3476580"/>
                </a:lnTo>
                <a:lnTo>
                  <a:pt x="0" y="3476580"/>
                </a:lnTo>
                <a:lnTo>
                  <a:pt x="0" y="0"/>
                </a:lnTo>
                <a:close/>
              </a:path>
            </a:pathLst>
          </a:custGeom>
          <a:blipFill>
            <a:blip r:embed="rId4"/>
            <a:stretch>
              <a:fillRect l="-101262" t="0" r="0" b="-102003"/>
            </a:stretch>
          </a:blipFill>
        </p:spPr>
      </p:sp>
      <p:sp>
        <p:nvSpPr>
          <p:cNvPr name="Freeform 5" id="5"/>
          <p:cNvSpPr/>
          <p:nvPr/>
        </p:nvSpPr>
        <p:spPr>
          <a:xfrm flipH="false" flipV="false" rot="0">
            <a:off x="9343327" y="6082801"/>
            <a:ext cx="4620050" cy="3476580"/>
          </a:xfrm>
          <a:custGeom>
            <a:avLst/>
            <a:gdLst/>
            <a:ahLst/>
            <a:cxnLst/>
            <a:rect r="r" b="b" t="t" l="l"/>
            <a:pathLst>
              <a:path h="3476580" w="4620050">
                <a:moveTo>
                  <a:pt x="0" y="0"/>
                </a:moveTo>
                <a:lnTo>
                  <a:pt x="4620050" y="0"/>
                </a:lnTo>
                <a:lnTo>
                  <a:pt x="4620050" y="3476580"/>
                </a:lnTo>
                <a:lnTo>
                  <a:pt x="0" y="3476580"/>
                </a:lnTo>
                <a:lnTo>
                  <a:pt x="0" y="0"/>
                </a:lnTo>
                <a:close/>
              </a:path>
            </a:pathLst>
          </a:custGeom>
          <a:blipFill>
            <a:blip r:embed="rId4"/>
            <a:stretch>
              <a:fillRect l="0" t="-97687" r="-98787" b="0"/>
            </a:stretch>
          </a:blipFill>
        </p:spPr>
      </p:sp>
      <p:sp>
        <p:nvSpPr>
          <p:cNvPr name="Freeform 6" id="6"/>
          <p:cNvSpPr/>
          <p:nvPr/>
        </p:nvSpPr>
        <p:spPr>
          <a:xfrm flipH="false" flipV="false" rot="0">
            <a:off x="13821520" y="6082801"/>
            <a:ext cx="4646693" cy="3476580"/>
          </a:xfrm>
          <a:custGeom>
            <a:avLst/>
            <a:gdLst/>
            <a:ahLst/>
            <a:cxnLst/>
            <a:rect r="r" b="b" t="t" l="l"/>
            <a:pathLst>
              <a:path h="3476580" w="4646693">
                <a:moveTo>
                  <a:pt x="0" y="0"/>
                </a:moveTo>
                <a:lnTo>
                  <a:pt x="4646692" y="0"/>
                </a:lnTo>
                <a:lnTo>
                  <a:pt x="4646692" y="3476580"/>
                </a:lnTo>
                <a:lnTo>
                  <a:pt x="0" y="3476580"/>
                </a:lnTo>
                <a:lnTo>
                  <a:pt x="0" y="0"/>
                </a:lnTo>
                <a:close/>
              </a:path>
            </a:pathLst>
          </a:custGeom>
          <a:blipFill>
            <a:blip r:embed="rId4"/>
            <a:stretch>
              <a:fillRect l="-99037" t="-99077" r="0" b="0"/>
            </a:stretch>
          </a:blipFill>
        </p:spPr>
      </p:sp>
      <p:sp>
        <p:nvSpPr>
          <p:cNvPr name="TextBox 7" id="7"/>
          <p:cNvSpPr txBox="true"/>
          <p:nvPr/>
        </p:nvSpPr>
        <p:spPr>
          <a:xfrm rot="0">
            <a:off x="392932" y="385102"/>
            <a:ext cx="7806035" cy="822325"/>
          </a:xfrm>
          <a:prstGeom prst="rect">
            <a:avLst/>
          </a:prstGeom>
        </p:spPr>
        <p:txBody>
          <a:bodyPr anchor="t" rtlCol="false" tIns="0" lIns="0" bIns="0" rIns="0">
            <a:spAutoFit/>
          </a:bodyPr>
          <a:lstStyle/>
          <a:p>
            <a:pPr algn="ctr">
              <a:lnSpc>
                <a:spcPts val="6500"/>
              </a:lnSpc>
              <a:spcBef>
                <a:spcPct val="0"/>
              </a:spcBef>
            </a:pPr>
            <a:r>
              <a:rPr lang="en-US" sz="5000" spc="-150">
                <a:solidFill>
                  <a:srgbClr val="000000"/>
                </a:solidFill>
                <a:latin typeface="Georgia Pro Condensed"/>
                <a:ea typeface="Georgia Pro Condensed"/>
                <a:cs typeface="Georgia Pro Condensed"/>
                <a:sym typeface="Georgia Pro Condensed"/>
              </a:rPr>
              <a:t>Model Performance Comparison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408729" y="1010968"/>
            <a:ext cx="9958689" cy="8999481"/>
          </a:xfrm>
          <a:custGeom>
            <a:avLst/>
            <a:gdLst/>
            <a:ahLst/>
            <a:cxnLst/>
            <a:rect r="r" b="b" t="t" l="l"/>
            <a:pathLst>
              <a:path h="8999481" w="9958689">
                <a:moveTo>
                  <a:pt x="0" y="0"/>
                </a:moveTo>
                <a:lnTo>
                  <a:pt x="9958689" y="0"/>
                </a:lnTo>
                <a:lnTo>
                  <a:pt x="9958689" y="8999481"/>
                </a:lnTo>
                <a:lnTo>
                  <a:pt x="0" y="8999481"/>
                </a:lnTo>
                <a:lnTo>
                  <a:pt x="0" y="0"/>
                </a:lnTo>
                <a:close/>
              </a:path>
            </a:pathLst>
          </a:custGeom>
          <a:blipFill>
            <a:blip r:embed="rId2"/>
            <a:stretch>
              <a:fillRect l="0" t="0" r="-51284" b="-235"/>
            </a:stretch>
          </a:blipFill>
        </p:spPr>
      </p:sp>
      <p:sp>
        <p:nvSpPr>
          <p:cNvPr name="Freeform 3" id="3"/>
          <p:cNvSpPr/>
          <p:nvPr/>
        </p:nvSpPr>
        <p:spPr>
          <a:xfrm flipH="false" flipV="false" rot="0">
            <a:off x="11367418" y="1010968"/>
            <a:ext cx="5020835" cy="4603777"/>
          </a:xfrm>
          <a:custGeom>
            <a:avLst/>
            <a:gdLst/>
            <a:ahLst/>
            <a:cxnLst/>
            <a:rect r="r" b="b" t="t" l="l"/>
            <a:pathLst>
              <a:path h="4603777" w="5020835">
                <a:moveTo>
                  <a:pt x="0" y="0"/>
                </a:moveTo>
                <a:lnTo>
                  <a:pt x="5020834" y="0"/>
                </a:lnTo>
                <a:lnTo>
                  <a:pt x="5020834" y="4603777"/>
                </a:lnTo>
                <a:lnTo>
                  <a:pt x="0" y="4603777"/>
                </a:lnTo>
                <a:lnTo>
                  <a:pt x="0" y="0"/>
                </a:lnTo>
                <a:close/>
              </a:path>
            </a:pathLst>
          </a:custGeom>
          <a:blipFill>
            <a:blip r:embed="rId2"/>
            <a:stretch>
              <a:fillRect l="-200516" t="0" r="-231" b="-96386"/>
            </a:stretch>
          </a:blipFill>
        </p:spPr>
      </p:sp>
      <p:sp>
        <p:nvSpPr>
          <p:cNvPr name="Freeform 4" id="4"/>
          <p:cNvSpPr/>
          <p:nvPr/>
        </p:nvSpPr>
        <p:spPr>
          <a:xfrm flipH="false" flipV="false" rot="0">
            <a:off x="11367418" y="5614745"/>
            <a:ext cx="5511854" cy="4395703"/>
          </a:xfrm>
          <a:custGeom>
            <a:avLst/>
            <a:gdLst/>
            <a:ahLst/>
            <a:cxnLst/>
            <a:rect r="r" b="b" t="t" l="l"/>
            <a:pathLst>
              <a:path h="4395703" w="5511854">
                <a:moveTo>
                  <a:pt x="0" y="0"/>
                </a:moveTo>
                <a:lnTo>
                  <a:pt x="5511853" y="0"/>
                </a:lnTo>
                <a:lnTo>
                  <a:pt x="5511853" y="4395704"/>
                </a:lnTo>
                <a:lnTo>
                  <a:pt x="0" y="4395704"/>
                </a:lnTo>
                <a:lnTo>
                  <a:pt x="0" y="0"/>
                </a:lnTo>
                <a:close/>
              </a:path>
            </a:pathLst>
          </a:custGeom>
          <a:blipFill>
            <a:blip r:embed="rId3"/>
            <a:stretch>
              <a:fillRect l="0" t="0" r="0" b="0"/>
            </a:stretch>
          </a:blipFill>
        </p:spPr>
      </p:sp>
      <p:sp>
        <p:nvSpPr>
          <p:cNvPr name="TextBox 5" id="5"/>
          <p:cNvSpPr txBox="true"/>
          <p:nvPr/>
        </p:nvSpPr>
        <p:spPr>
          <a:xfrm rot="0">
            <a:off x="446411" y="206375"/>
            <a:ext cx="6383238" cy="822325"/>
          </a:xfrm>
          <a:prstGeom prst="rect">
            <a:avLst/>
          </a:prstGeom>
        </p:spPr>
        <p:txBody>
          <a:bodyPr anchor="t" rtlCol="false" tIns="0" lIns="0" bIns="0" rIns="0">
            <a:spAutoFit/>
          </a:bodyPr>
          <a:lstStyle/>
          <a:p>
            <a:pPr algn="ctr">
              <a:lnSpc>
                <a:spcPts val="6500"/>
              </a:lnSpc>
              <a:spcBef>
                <a:spcPct val="0"/>
              </a:spcBef>
            </a:pPr>
            <a:r>
              <a:rPr lang="en-US" sz="5000" spc="-150">
                <a:solidFill>
                  <a:srgbClr val="000000"/>
                </a:solidFill>
                <a:latin typeface="Georgia Pro Condensed"/>
                <a:ea typeface="Georgia Pro Condensed"/>
                <a:cs typeface="Georgia Pro Condensed"/>
                <a:sym typeface="Georgia Pro Condensed"/>
              </a:rPr>
              <a:t>Detailed Model Evaluation</a:t>
            </a:r>
          </a:p>
        </p:txBody>
      </p:sp>
    </p:spTree>
  </p:cSld>
  <p:clrMapOvr>
    <a:masterClrMapping/>
  </p:clrMapOvr>
</p:sld>
</file>

<file path=ppt/slides/slide11.xml><?xml version="1.0" encoding="utf-8"?>
<p:sld xmlns:p="http://schemas.openxmlformats.org/presentationml/2006/main" xmlns:a="http://schemas.openxmlformats.org/drawingml/2006/main">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313792" y="359570"/>
            <a:ext cx="10298460" cy="822325"/>
          </a:xfrm>
          <a:prstGeom prst="rect">
            <a:avLst/>
          </a:prstGeom>
        </p:spPr>
        <p:txBody>
          <a:bodyPr anchor="t" rtlCol="false" tIns="0" lIns="0" bIns="0" rIns="0">
            <a:spAutoFit/>
          </a:bodyPr>
          <a:lstStyle/>
          <a:p>
            <a:pPr algn="ctr">
              <a:lnSpc>
                <a:spcPts val="6500"/>
              </a:lnSpc>
              <a:spcBef>
                <a:spcPct val="0"/>
              </a:spcBef>
            </a:pPr>
            <a:r>
              <a:rPr lang="en-US" sz="5000" spc="-150">
                <a:solidFill>
                  <a:srgbClr val="000000"/>
                </a:solidFill>
                <a:latin typeface="Georgia Pro Condensed"/>
                <a:ea typeface="Georgia Pro Condensed"/>
                <a:cs typeface="Georgia Pro Condensed"/>
                <a:sym typeface="Georgia Pro Condensed"/>
              </a:rPr>
              <a:t>Key Insights &amp; Business Recommendations</a:t>
            </a:r>
          </a:p>
        </p:txBody>
      </p:sp>
      <p:sp>
        <p:nvSpPr>
          <p:cNvPr name="TextBox 3" id="3"/>
          <p:cNvSpPr txBox="true"/>
          <p:nvPr/>
        </p:nvSpPr>
        <p:spPr>
          <a:xfrm rot="0">
            <a:off x="925599" y="1825249"/>
            <a:ext cx="7792279" cy="7520751"/>
          </a:xfrm>
          <a:prstGeom prst="rect">
            <a:avLst/>
          </a:prstGeom>
        </p:spPr>
        <p:txBody>
          <a:bodyPr anchor="t" rtlCol="false" tIns="0" lIns="0" bIns="0" rIns="0">
            <a:spAutoFit/>
          </a:bodyPr>
          <a:lstStyle/>
          <a:p>
            <a:pPr algn="l">
              <a:lnSpc>
                <a:spcPts val="5407"/>
              </a:lnSpc>
            </a:pPr>
            <a:r>
              <a:rPr lang="en-US" sz="3604" spc="-108" b="true">
                <a:solidFill>
                  <a:srgbClr val="000000"/>
                </a:solidFill>
                <a:latin typeface="Georgia Pro Condensed Bold"/>
                <a:ea typeface="Georgia Pro Condensed Bold"/>
                <a:cs typeface="Georgia Pro Condensed Bold"/>
                <a:sym typeface="Georgia Pro Condensed Bold"/>
              </a:rPr>
              <a:t>Critical Churn Drivers:</a:t>
            </a:r>
          </a:p>
          <a:p>
            <a:pPr algn="l" marL="778310" indent="-389155" lvl="1">
              <a:lnSpc>
                <a:spcPts val="5407"/>
              </a:lnSpc>
              <a:buFont typeface="Arial"/>
              <a:buChar char="•"/>
            </a:pPr>
            <a:r>
              <a:rPr lang="en-US" sz="3604" spc="-108">
                <a:solidFill>
                  <a:srgbClr val="000000"/>
                </a:solidFill>
                <a:latin typeface="Georgia Pro Condensed"/>
                <a:ea typeface="Georgia Pro Condensed"/>
                <a:cs typeface="Georgia Pro Condensed"/>
                <a:sym typeface="Georgia Pro Condensed"/>
              </a:rPr>
              <a:t>Tenure: Highest churn in the first 12 months.</a:t>
            </a:r>
          </a:p>
          <a:p>
            <a:pPr algn="l" marL="778310" indent="-389155" lvl="1">
              <a:lnSpc>
                <a:spcPts val="5407"/>
              </a:lnSpc>
              <a:buFont typeface="Arial"/>
              <a:buChar char="•"/>
            </a:pPr>
            <a:r>
              <a:rPr lang="en-US" sz="3604" spc="-108">
                <a:solidFill>
                  <a:srgbClr val="000000"/>
                </a:solidFill>
                <a:latin typeface="Georgia Pro Condensed"/>
                <a:ea typeface="Georgia Pro Condensed"/>
                <a:cs typeface="Georgia Pro Condensed"/>
                <a:sym typeface="Georgia Pro Condensed"/>
              </a:rPr>
              <a:t>Contract Type: Month-to-month customers churn ~3× more.</a:t>
            </a:r>
          </a:p>
          <a:p>
            <a:pPr algn="l" marL="778310" indent="-389155" lvl="1">
              <a:lnSpc>
                <a:spcPts val="5407"/>
              </a:lnSpc>
              <a:buFont typeface="Arial"/>
              <a:buChar char="•"/>
            </a:pPr>
            <a:r>
              <a:rPr lang="en-US" sz="3604" spc="-108">
                <a:solidFill>
                  <a:srgbClr val="000000"/>
                </a:solidFill>
                <a:latin typeface="Georgia Pro Condensed"/>
                <a:ea typeface="Georgia Pro Condensed"/>
                <a:cs typeface="Georgia Pro Condensed"/>
                <a:sym typeface="Georgia Pro Condensed"/>
              </a:rPr>
              <a:t>Service Type: Fiber Optic users show the most churn.</a:t>
            </a:r>
          </a:p>
          <a:p>
            <a:pPr algn="l" marL="778310" indent="-389155" lvl="1">
              <a:lnSpc>
                <a:spcPts val="5407"/>
              </a:lnSpc>
              <a:buFont typeface="Arial"/>
              <a:buChar char="•"/>
            </a:pPr>
            <a:r>
              <a:rPr lang="en-US" sz="3604" spc="-108">
                <a:solidFill>
                  <a:srgbClr val="000000"/>
                </a:solidFill>
                <a:latin typeface="Georgia Pro Condensed"/>
                <a:ea typeface="Georgia Pro Condensed"/>
                <a:cs typeface="Georgia Pro Condensed"/>
                <a:sym typeface="Georgia Pro Condensed"/>
              </a:rPr>
              <a:t>Pricing: Higher MonthlyCharges strongly linked to churn.</a:t>
            </a:r>
          </a:p>
          <a:p>
            <a:pPr algn="l" marL="778310" indent="-389155" lvl="1">
              <a:lnSpc>
                <a:spcPts val="5407"/>
              </a:lnSpc>
              <a:buFont typeface="Arial"/>
              <a:buChar char="•"/>
            </a:pPr>
            <a:r>
              <a:rPr lang="en-US" sz="3604" spc="-108">
                <a:solidFill>
                  <a:srgbClr val="000000"/>
                </a:solidFill>
                <a:latin typeface="Georgia Pro Condensed"/>
                <a:ea typeface="Georgia Pro Condensed"/>
                <a:cs typeface="Georgia Pro Condensed"/>
                <a:sym typeface="Georgia Pro Condensed"/>
              </a:rPr>
              <a:t>Payment Method: Electronic Check users churn at higher rates.</a:t>
            </a:r>
          </a:p>
        </p:txBody>
      </p:sp>
      <p:sp>
        <p:nvSpPr>
          <p:cNvPr name="TextBox 4" id="4"/>
          <p:cNvSpPr txBox="true"/>
          <p:nvPr/>
        </p:nvSpPr>
        <p:spPr>
          <a:xfrm rot="0">
            <a:off x="9144000" y="1782821"/>
            <a:ext cx="8467218" cy="7520940"/>
          </a:xfrm>
          <a:prstGeom prst="rect">
            <a:avLst/>
          </a:prstGeom>
        </p:spPr>
        <p:txBody>
          <a:bodyPr anchor="t" rtlCol="false" tIns="0" lIns="0" bIns="0" rIns="0">
            <a:spAutoFit/>
          </a:bodyPr>
          <a:lstStyle/>
          <a:p>
            <a:pPr algn="l">
              <a:lnSpc>
                <a:spcPts val="5400"/>
              </a:lnSpc>
            </a:pPr>
            <a:r>
              <a:rPr lang="en-US" b="true" sz="3600" spc="-107">
                <a:solidFill>
                  <a:srgbClr val="000000"/>
                </a:solidFill>
                <a:latin typeface="Georgia Pro Condensed Bold"/>
                <a:ea typeface="Georgia Pro Condensed Bold"/>
                <a:cs typeface="Georgia Pro Condensed Bold"/>
                <a:sym typeface="Georgia Pro Condensed Bold"/>
              </a:rPr>
              <a:t>Business Recommendations</a:t>
            </a:r>
          </a:p>
          <a:p>
            <a:pPr algn="l" marL="777240" indent="-388620" lvl="1">
              <a:lnSpc>
                <a:spcPts val="5400"/>
              </a:lnSpc>
              <a:buFont typeface="Arial"/>
              <a:buChar char="•"/>
            </a:pPr>
            <a:r>
              <a:rPr lang="en-US" sz="3600" spc="-107">
                <a:solidFill>
                  <a:srgbClr val="000000"/>
                </a:solidFill>
                <a:latin typeface="Georgia Pro Condensed"/>
                <a:ea typeface="Georgia Pro Condensed"/>
                <a:cs typeface="Georgia Pro Condensed"/>
                <a:sym typeface="Georgia Pro Condensed"/>
              </a:rPr>
              <a:t>Early Intervention: Focus retention on 0–12 month customers.</a:t>
            </a:r>
          </a:p>
          <a:p>
            <a:pPr algn="l" marL="777240" indent="-388620" lvl="1">
              <a:lnSpc>
                <a:spcPts val="5400"/>
              </a:lnSpc>
              <a:buFont typeface="Arial"/>
              <a:buChar char="•"/>
            </a:pPr>
            <a:r>
              <a:rPr lang="en-US" sz="3600" spc="-107">
                <a:solidFill>
                  <a:srgbClr val="000000"/>
                </a:solidFill>
                <a:latin typeface="Georgia Pro Condensed"/>
                <a:ea typeface="Georgia Pro Condensed"/>
                <a:cs typeface="Georgia Pro Condensed"/>
                <a:sym typeface="Georgia Pro Condensed"/>
              </a:rPr>
              <a:t>Contract Incentives: Push 1–2 year contracts using discounts.</a:t>
            </a:r>
          </a:p>
          <a:p>
            <a:pPr algn="l" marL="777240" indent="-388620" lvl="1">
              <a:lnSpc>
                <a:spcPts val="5400"/>
              </a:lnSpc>
              <a:buFont typeface="Arial"/>
              <a:buChar char="•"/>
            </a:pPr>
            <a:r>
              <a:rPr lang="en-US" sz="3600" spc="-107">
                <a:solidFill>
                  <a:srgbClr val="000000"/>
                </a:solidFill>
                <a:latin typeface="Georgia Pro Condensed"/>
                <a:ea typeface="Georgia Pro Condensed"/>
                <a:cs typeface="Georgia Pro Condensed"/>
                <a:sym typeface="Georgia Pro Condensed"/>
              </a:rPr>
              <a:t>Pricing Review: Reevaluate Fiber Optic pricing &amp; performance.</a:t>
            </a:r>
          </a:p>
          <a:p>
            <a:pPr algn="l" marL="777240" indent="-388620" lvl="1">
              <a:lnSpc>
                <a:spcPts val="5400"/>
              </a:lnSpc>
              <a:buFont typeface="Arial"/>
              <a:buChar char="•"/>
            </a:pPr>
            <a:r>
              <a:rPr lang="en-US" sz="3600" spc="-107">
                <a:solidFill>
                  <a:srgbClr val="000000"/>
                </a:solidFill>
                <a:latin typeface="Georgia Pro Condensed"/>
                <a:ea typeface="Georgia Pro Condensed"/>
                <a:cs typeface="Georgia Pro Condensed"/>
                <a:sym typeface="Georgia Pro Condensed"/>
              </a:rPr>
              <a:t>Payment Optimization: Reduce friction for Electronic Check users; promote autopay.</a:t>
            </a:r>
          </a:p>
          <a:p>
            <a:pPr algn="l" marL="777240" indent="-388620" lvl="1">
              <a:lnSpc>
                <a:spcPts val="5400"/>
              </a:lnSpc>
              <a:buFont typeface="Arial"/>
              <a:buChar char="•"/>
            </a:pPr>
            <a:r>
              <a:rPr lang="en-US" sz="3600" spc="-107">
                <a:solidFill>
                  <a:srgbClr val="000000"/>
                </a:solidFill>
                <a:latin typeface="Georgia Pro Condensed"/>
                <a:ea typeface="Georgia Pro Condensed"/>
                <a:cs typeface="Georgia Pro Condensed"/>
                <a:sym typeface="Georgia Pro Condensed"/>
              </a:rPr>
              <a:t>Model Deployment: Use Random Forest for real-time churn prediction.</a:t>
            </a:r>
          </a:p>
        </p:txBody>
      </p:sp>
    </p:spTree>
  </p:cSld>
  <p:clrMapOvr>
    <a:masterClrMapping/>
  </p:clrMapOvr>
</p:sld>
</file>

<file path=ppt/slides/slide12.xml><?xml version="1.0" encoding="utf-8"?>
<p:sld xmlns:p="http://schemas.openxmlformats.org/presentationml/2006/main" xmlns:a="http://schemas.openxmlformats.org/drawingml/2006/main">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543584" y="405473"/>
            <a:ext cx="2902595" cy="822325"/>
          </a:xfrm>
          <a:prstGeom prst="rect">
            <a:avLst/>
          </a:prstGeom>
        </p:spPr>
        <p:txBody>
          <a:bodyPr anchor="t" rtlCol="false" tIns="0" lIns="0" bIns="0" rIns="0">
            <a:spAutoFit/>
          </a:bodyPr>
          <a:lstStyle/>
          <a:p>
            <a:pPr algn="ctr">
              <a:lnSpc>
                <a:spcPts val="6500"/>
              </a:lnSpc>
              <a:spcBef>
                <a:spcPct val="0"/>
              </a:spcBef>
            </a:pPr>
            <a:r>
              <a:rPr lang="en-US" sz="5000" spc="-150">
                <a:solidFill>
                  <a:srgbClr val="000000"/>
                </a:solidFill>
                <a:latin typeface="Georgia Pro Condensed"/>
                <a:ea typeface="Georgia Pro Condensed"/>
                <a:cs typeface="Georgia Pro Condensed"/>
                <a:sym typeface="Georgia Pro Condensed"/>
              </a:rPr>
              <a:t>Conclusions</a:t>
            </a:r>
          </a:p>
        </p:txBody>
      </p:sp>
      <p:sp>
        <p:nvSpPr>
          <p:cNvPr name="TextBox 3" id="3"/>
          <p:cNvSpPr txBox="true"/>
          <p:nvPr/>
        </p:nvSpPr>
        <p:spPr>
          <a:xfrm rot="0">
            <a:off x="878304" y="914400"/>
            <a:ext cx="16230600" cy="8892540"/>
          </a:xfrm>
          <a:prstGeom prst="rect">
            <a:avLst/>
          </a:prstGeom>
        </p:spPr>
        <p:txBody>
          <a:bodyPr anchor="t" rtlCol="false" tIns="0" lIns="0" bIns="0" rIns="0">
            <a:spAutoFit/>
          </a:bodyPr>
          <a:lstStyle/>
          <a:p>
            <a:pPr algn="l">
              <a:lnSpc>
                <a:spcPts val="5400"/>
              </a:lnSpc>
            </a:pPr>
          </a:p>
          <a:p>
            <a:pPr algn="l" marL="777240" indent="-388620" lvl="1">
              <a:lnSpc>
                <a:spcPts val="5400"/>
              </a:lnSpc>
              <a:buFont typeface="Arial"/>
              <a:buChar char="•"/>
            </a:pPr>
            <a:r>
              <a:rPr lang="en-US" b="true" sz="3600" spc="-107">
                <a:solidFill>
                  <a:srgbClr val="000000"/>
                </a:solidFill>
                <a:latin typeface="Georgia Pro Condensed Bold"/>
                <a:ea typeface="Georgia Pro Condensed Bold"/>
                <a:cs typeface="Georgia Pro Condensed Bold"/>
                <a:sym typeface="Georgia Pro Condensed Bold"/>
              </a:rPr>
              <a:t>Comprehensive EDA</a:t>
            </a:r>
            <a:r>
              <a:rPr lang="en-US" sz="3600" spc="-107">
                <a:solidFill>
                  <a:srgbClr val="000000"/>
                </a:solidFill>
                <a:latin typeface="Georgia Pro Condensed"/>
                <a:ea typeface="Georgia Pro Condensed"/>
                <a:cs typeface="Georgia Pro Condensed"/>
                <a:sym typeface="Georgia Pro Condensed"/>
              </a:rPr>
              <a:t>:</a:t>
            </a:r>
            <a:r>
              <a:rPr lang="en-US" sz="3600" spc="-107">
                <a:solidFill>
                  <a:srgbClr val="000000"/>
                </a:solidFill>
                <a:latin typeface="Georgia Pro Condensed"/>
                <a:ea typeface="Georgia Pro Condensed"/>
                <a:cs typeface="Georgia Pro Condensed"/>
                <a:sym typeface="Georgia Pro Condensed"/>
              </a:rPr>
              <a:t> </a:t>
            </a:r>
            <a:r>
              <a:rPr lang="en-US" sz="3600" spc="-107">
                <a:solidFill>
                  <a:srgbClr val="000000"/>
                </a:solidFill>
                <a:latin typeface="Georgia Pro Condensed"/>
                <a:ea typeface="Georgia Pro Condensed"/>
                <a:cs typeface="Georgia Pro Condensed"/>
                <a:sym typeface="Georgia Pro Condensed"/>
              </a:rPr>
              <a:t>Th</a:t>
            </a:r>
            <a:r>
              <a:rPr lang="en-US" sz="3600" spc="-107">
                <a:solidFill>
                  <a:srgbClr val="000000"/>
                </a:solidFill>
                <a:latin typeface="Georgia Pro Condensed"/>
                <a:ea typeface="Georgia Pro Condensed"/>
                <a:cs typeface="Georgia Pro Condensed"/>
                <a:sym typeface="Georgia Pro Condensed"/>
              </a:rPr>
              <a:t>e</a:t>
            </a:r>
            <a:r>
              <a:rPr lang="en-US" sz="3600" spc="-107">
                <a:solidFill>
                  <a:srgbClr val="000000"/>
                </a:solidFill>
                <a:latin typeface="Georgia Pro Condensed"/>
                <a:ea typeface="Georgia Pro Condensed"/>
                <a:cs typeface="Georgia Pro Condensed"/>
                <a:sym typeface="Georgia Pro Condensed"/>
              </a:rPr>
              <a:t> an</a:t>
            </a:r>
            <a:r>
              <a:rPr lang="en-US" sz="3600" spc="-107">
                <a:solidFill>
                  <a:srgbClr val="000000"/>
                </a:solidFill>
                <a:latin typeface="Georgia Pro Condensed"/>
                <a:ea typeface="Georgia Pro Condensed"/>
                <a:cs typeface="Georgia Pro Condensed"/>
                <a:sym typeface="Georgia Pro Condensed"/>
              </a:rPr>
              <a:t>al</a:t>
            </a:r>
            <a:r>
              <a:rPr lang="en-US" sz="3600" spc="-107">
                <a:solidFill>
                  <a:srgbClr val="000000"/>
                </a:solidFill>
                <a:latin typeface="Georgia Pro Condensed"/>
                <a:ea typeface="Georgia Pro Condensed"/>
                <a:cs typeface="Georgia Pro Condensed"/>
                <a:sym typeface="Georgia Pro Condensed"/>
              </a:rPr>
              <a:t>ys</a:t>
            </a:r>
            <a:r>
              <a:rPr lang="en-US" sz="3600" spc="-107">
                <a:solidFill>
                  <a:srgbClr val="000000"/>
                </a:solidFill>
                <a:latin typeface="Georgia Pro Condensed"/>
                <a:ea typeface="Georgia Pro Condensed"/>
                <a:cs typeface="Georgia Pro Condensed"/>
                <a:sym typeface="Georgia Pro Condensed"/>
              </a:rPr>
              <a:t>i</a:t>
            </a:r>
            <a:r>
              <a:rPr lang="en-US" sz="3600" spc="-107">
                <a:solidFill>
                  <a:srgbClr val="000000"/>
                </a:solidFill>
                <a:latin typeface="Georgia Pro Condensed"/>
                <a:ea typeface="Georgia Pro Condensed"/>
                <a:cs typeface="Georgia Pro Condensed"/>
                <a:sym typeface="Georgia Pro Condensed"/>
              </a:rPr>
              <a:t>s u</a:t>
            </a:r>
            <a:r>
              <a:rPr lang="en-US" sz="3600" spc="-107">
                <a:solidFill>
                  <a:srgbClr val="000000"/>
                </a:solidFill>
                <a:latin typeface="Georgia Pro Condensed"/>
                <a:ea typeface="Georgia Pro Condensed"/>
                <a:cs typeface="Georgia Pro Condensed"/>
                <a:sym typeface="Georgia Pro Condensed"/>
              </a:rPr>
              <a:t>n</a:t>
            </a:r>
            <a:r>
              <a:rPr lang="en-US" sz="3600" spc="-107">
                <a:solidFill>
                  <a:srgbClr val="000000"/>
                </a:solidFill>
                <a:latin typeface="Georgia Pro Condensed"/>
                <a:ea typeface="Georgia Pro Condensed"/>
                <a:cs typeface="Georgia Pro Condensed"/>
                <a:sym typeface="Georgia Pro Condensed"/>
              </a:rPr>
              <a:t>covered</a:t>
            </a:r>
            <a:r>
              <a:rPr lang="en-US" sz="3600" spc="-107">
                <a:solidFill>
                  <a:srgbClr val="000000"/>
                </a:solidFill>
                <a:latin typeface="Georgia Pro Condensed"/>
                <a:ea typeface="Georgia Pro Condensed"/>
                <a:cs typeface="Georgia Pro Condensed"/>
                <a:sym typeface="Georgia Pro Condensed"/>
              </a:rPr>
              <a:t> </a:t>
            </a:r>
            <a:r>
              <a:rPr lang="en-US" sz="3600" spc="-107">
                <a:solidFill>
                  <a:srgbClr val="000000"/>
                </a:solidFill>
                <a:latin typeface="Georgia Pro Condensed"/>
                <a:ea typeface="Georgia Pro Condensed"/>
                <a:cs typeface="Georgia Pro Condensed"/>
                <a:sym typeface="Georgia Pro Condensed"/>
              </a:rPr>
              <a:t>cle</a:t>
            </a:r>
            <a:r>
              <a:rPr lang="en-US" sz="3600" spc="-107">
                <a:solidFill>
                  <a:srgbClr val="000000"/>
                </a:solidFill>
                <a:latin typeface="Georgia Pro Condensed"/>
                <a:ea typeface="Georgia Pro Condensed"/>
                <a:cs typeface="Georgia Pro Condensed"/>
                <a:sym typeface="Georgia Pro Condensed"/>
              </a:rPr>
              <a:t>a</a:t>
            </a:r>
            <a:r>
              <a:rPr lang="en-US" sz="3600" spc="-107">
                <a:solidFill>
                  <a:srgbClr val="000000"/>
                </a:solidFill>
                <a:latin typeface="Georgia Pro Condensed"/>
                <a:ea typeface="Georgia Pro Condensed"/>
                <a:cs typeface="Georgia Pro Condensed"/>
                <a:sym typeface="Georgia Pro Condensed"/>
              </a:rPr>
              <a:t>r </a:t>
            </a:r>
            <a:r>
              <a:rPr lang="en-US" sz="3600" spc="-107">
                <a:solidFill>
                  <a:srgbClr val="000000"/>
                </a:solidFill>
                <a:latin typeface="Georgia Pro Condensed"/>
                <a:ea typeface="Georgia Pro Condensed"/>
                <a:cs typeface="Georgia Pro Condensed"/>
                <a:sym typeface="Georgia Pro Condensed"/>
              </a:rPr>
              <a:t>c</a:t>
            </a:r>
            <a:r>
              <a:rPr lang="en-US" sz="3600" spc="-107">
                <a:solidFill>
                  <a:srgbClr val="000000"/>
                </a:solidFill>
                <a:latin typeface="Georgia Pro Condensed"/>
                <a:ea typeface="Georgia Pro Condensed"/>
                <a:cs typeface="Georgia Pro Condensed"/>
                <a:sym typeface="Georgia Pro Condensed"/>
              </a:rPr>
              <a:t>hurn pa</a:t>
            </a:r>
            <a:r>
              <a:rPr lang="en-US" sz="3600" spc="-107">
                <a:solidFill>
                  <a:srgbClr val="000000"/>
                </a:solidFill>
                <a:latin typeface="Georgia Pro Condensed"/>
                <a:ea typeface="Georgia Pro Condensed"/>
                <a:cs typeface="Georgia Pro Condensed"/>
                <a:sym typeface="Georgia Pro Condensed"/>
              </a:rPr>
              <a:t>t</a:t>
            </a:r>
            <a:r>
              <a:rPr lang="en-US" sz="3600" spc="-107">
                <a:solidFill>
                  <a:srgbClr val="000000"/>
                </a:solidFill>
                <a:latin typeface="Georgia Pro Condensed"/>
                <a:ea typeface="Georgia Pro Condensed"/>
                <a:cs typeface="Georgia Pro Condensed"/>
                <a:sym typeface="Georgia Pro Condensed"/>
              </a:rPr>
              <a:t>terns, such as tenure, c</a:t>
            </a:r>
            <a:r>
              <a:rPr lang="en-US" sz="3600" spc="-107">
                <a:solidFill>
                  <a:srgbClr val="000000"/>
                </a:solidFill>
                <a:latin typeface="Georgia Pro Condensed"/>
                <a:ea typeface="Georgia Pro Condensed"/>
                <a:cs typeface="Georgia Pro Condensed"/>
                <a:sym typeface="Georgia Pro Condensed"/>
              </a:rPr>
              <a:t>on</a:t>
            </a:r>
            <a:r>
              <a:rPr lang="en-US" sz="3600" spc="-107">
                <a:solidFill>
                  <a:srgbClr val="000000"/>
                </a:solidFill>
                <a:latin typeface="Georgia Pro Condensed"/>
                <a:ea typeface="Georgia Pro Condensed"/>
                <a:cs typeface="Georgia Pro Condensed"/>
                <a:sym typeface="Georgia Pro Condensed"/>
              </a:rPr>
              <a:t>tr</a:t>
            </a:r>
            <a:r>
              <a:rPr lang="en-US" sz="3600" spc="-107">
                <a:solidFill>
                  <a:srgbClr val="000000"/>
                </a:solidFill>
                <a:latin typeface="Georgia Pro Condensed"/>
                <a:ea typeface="Georgia Pro Condensed"/>
                <a:cs typeface="Georgia Pro Condensed"/>
                <a:sym typeface="Georgia Pro Condensed"/>
              </a:rPr>
              <a:t>a</a:t>
            </a:r>
            <a:r>
              <a:rPr lang="en-US" sz="3600" spc="-107">
                <a:solidFill>
                  <a:srgbClr val="000000"/>
                </a:solidFill>
                <a:latin typeface="Georgia Pro Condensed"/>
                <a:ea typeface="Georgia Pro Condensed"/>
                <a:cs typeface="Georgia Pro Condensed"/>
                <a:sym typeface="Georgia Pro Condensed"/>
              </a:rPr>
              <a:t>ct</a:t>
            </a:r>
            <a:r>
              <a:rPr lang="en-US" sz="3600" spc="-107">
                <a:solidFill>
                  <a:srgbClr val="000000"/>
                </a:solidFill>
                <a:latin typeface="Georgia Pro Condensed"/>
                <a:ea typeface="Georgia Pro Condensed"/>
                <a:cs typeface="Georgia Pro Condensed"/>
                <a:sym typeface="Georgia Pro Condensed"/>
              </a:rPr>
              <a:t> </a:t>
            </a:r>
            <a:r>
              <a:rPr lang="en-US" sz="3600" spc="-107">
                <a:solidFill>
                  <a:srgbClr val="000000"/>
                </a:solidFill>
                <a:latin typeface="Georgia Pro Condensed"/>
                <a:ea typeface="Georgia Pro Condensed"/>
                <a:cs typeface="Georgia Pro Condensed"/>
                <a:sym typeface="Georgia Pro Condensed"/>
              </a:rPr>
              <a:t>ty</a:t>
            </a:r>
            <a:r>
              <a:rPr lang="en-US" sz="3600" spc="-107">
                <a:solidFill>
                  <a:srgbClr val="000000"/>
                </a:solidFill>
                <a:latin typeface="Georgia Pro Condensed"/>
                <a:ea typeface="Georgia Pro Condensed"/>
                <a:cs typeface="Georgia Pro Condensed"/>
                <a:sym typeface="Georgia Pro Condensed"/>
              </a:rPr>
              <a:t>p</a:t>
            </a:r>
            <a:r>
              <a:rPr lang="en-US" sz="3600" spc="-107">
                <a:solidFill>
                  <a:srgbClr val="000000"/>
                </a:solidFill>
                <a:latin typeface="Georgia Pro Condensed"/>
                <a:ea typeface="Georgia Pro Condensed"/>
                <a:cs typeface="Georgia Pro Condensed"/>
                <a:sym typeface="Georgia Pro Condensed"/>
              </a:rPr>
              <a:t>e, </a:t>
            </a:r>
            <a:r>
              <a:rPr lang="en-US" sz="3600" spc="-107">
                <a:solidFill>
                  <a:srgbClr val="000000"/>
                </a:solidFill>
                <a:latin typeface="Georgia Pro Condensed"/>
                <a:ea typeface="Georgia Pro Condensed"/>
                <a:cs typeface="Georgia Pro Condensed"/>
                <a:sym typeface="Georgia Pro Condensed"/>
              </a:rPr>
              <a:t>a</a:t>
            </a:r>
            <a:r>
              <a:rPr lang="en-US" sz="3600" spc="-107">
                <a:solidFill>
                  <a:srgbClr val="000000"/>
                </a:solidFill>
                <a:latin typeface="Georgia Pro Condensed"/>
                <a:ea typeface="Georgia Pro Condensed"/>
                <a:cs typeface="Georgia Pro Condensed"/>
                <a:sym typeface="Georgia Pro Condensed"/>
              </a:rPr>
              <a:t>nd pricing, providing s</a:t>
            </a:r>
            <a:r>
              <a:rPr lang="en-US" sz="3600" spc="-107">
                <a:solidFill>
                  <a:srgbClr val="000000"/>
                </a:solidFill>
                <a:latin typeface="Georgia Pro Condensed"/>
                <a:ea typeface="Georgia Pro Condensed"/>
                <a:cs typeface="Georgia Pro Condensed"/>
                <a:sym typeface="Georgia Pro Condensed"/>
              </a:rPr>
              <a:t>t</a:t>
            </a:r>
            <a:r>
              <a:rPr lang="en-US" sz="3600" spc="-107">
                <a:solidFill>
                  <a:srgbClr val="000000"/>
                </a:solidFill>
                <a:latin typeface="Georgia Pro Condensed"/>
                <a:ea typeface="Georgia Pro Condensed"/>
                <a:cs typeface="Georgia Pro Condensed"/>
                <a:sym typeface="Georgia Pro Condensed"/>
              </a:rPr>
              <a:t>rong direc</a:t>
            </a:r>
            <a:r>
              <a:rPr lang="en-US" sz="3600" spc="-107">
                <a:solidFill>
                  <a:srgbClr val="000000"/>
                </a:solidFill>
                <a:latin typeface="Georgia Pro Condensed"/>
                <a:ea typeface="Georgia Pro Condensed"/>
                <a:cs typeface="Georgia Pro Condensed"/>
                <a:sym typeface="Georgia Pro Condensed"/>
              </a:rPr>
              <a:t>t</a:t>
            </a:r>
            <a:r>
              <a:rPr lang="en-US" sz="3600" spc="-107">
                <a:solidFill>
                  <a:srgbClr val="000000"/>
                </a:solidFill>
                <a:latin typeface="Georgia Pro Condensed"/>
                <a:ea typeface="Georgia Pro Condensed"/>
                <a:cs typeface="Georgia Pro Condensed"/>
                <a:sym typeface="Georgia Pro Condensed"/>
              </a:rPr>
              <a:t>ion for targ</a:t>
            </a:r>
            <a:r>
              <a:rPr lang="en-US" sz="3600" spc="-107">
                <a:solidFill>
                  <a:srgbClr val="000000"/>
                </a:solidFill>
                <a:latin typeface="Georgia Pro Condensed"/>
                <a:ea typeface="Georgia Pro Condensed"/>
                <a:cs typeface="Georgia Pro Condensed"/>
                <a:sym typeface="Georgia Pro Condensed"/>
              </a:rPr>
              <a:t>e</a:t>
            </a:r>
            <a:r>
              <a:rPr lang="en-US" sz="3600" spc="-107">
                <a:solidFill>
                  <a:srgbClr val="000000"/>
                </a:solidFill>
                <a:latin typeface="Georgia Pro Condensed"/>
                <a:ea typeface="Georgia Pro Condensed"/>
                <a:cs typeface="Georgia Pro Condensed"/>
                <a:sym typeface="Georgia Pro Condensed"/>
              </a:rPr>
              <a:t>ted </a:t>
            </a:r>
            <a:r>
              <a:rPr lang="en-US" sz="3600" spc="-107">
                <a:solidFill>
                  <a:srgbClr val="000000"/>
                </a:solidFill>
                <a:latin typeface="Georgia Pro Condensed"/>
                <a:ea typeface="Georgia Pro Condensed"/>
                <a:cs typeface="Georgia Pro Condensed"/>
                <a:sym typeface="Georgia Pro Condensed"/>
              </a:rPr>
              <a:t>r</a:t>
            </a:r>
            <a:r>
              <a:rPr lang="en-US" sz="3600" spc="-107">
                <a:solidFill>
                  <a:srgbClr val="000000"/>
                </a:solidFill>
                <a:latin typeface="Georgia Pro Condensed"/>
                <a:ea typeface="Georgia Pro Condensed"/>
                <a:cs typeface="Georgia Pro Condensed"/>
                <a:sym typeface="Georgia Pro Condensed"/>
              </a:rPr>
              <a:t>ete</a:t>
            </a:r>
            <a:r>
              <a:rPr lang="en-US" sz="3600" spc="-107">
                <a:solidFill>
                  <a:srgbClr val="000000"/>
                </a:solidFill>
                <a:latin typeface="Georgia Pro Condensed"/>
                <a:ea typeface="Georgia Pro Condensed"/>
                <a:cs typeface="Georgia Pro Condensed"/>
                <a:sym typeface="Georgia Pro Condensed"/>
              </a:rPr>
              <a:t>n</a:t>
            </a:r>
            <a:r>
              <a:rPr lang="en-US" sz="3600" spc="-107">
                <a:solidFill>
                  <a:srgbClr val="000000"/>
                </a:solidFill>
                <a:latin typeface="Georgia Pro Condensed"/>
                <a:ea typeface="Georgia Pro Condensed"/>
                <a:cs typeface="Georgia Pro Condensed"/>
                <a:sym typeface="Georgia Pro Condensed"/>
              </a:rPr>
              <a:t>tion strategie</a:t>
            </a:r>
            <a:r>
              <a:rPr lang="en-US" sz="3600" spc="-107">
                <a:solidFill>
                  <a:srgbClr val="000000"/>
                </a:solidFill>
                <a:latin typeface="Georgia Pro Condensed"/>
                <a:ea typeface="Georgia Pro Condensed"/>
                <a:cs typeface="Georgia Pro Condensed"/>
                <a:sym typeface="Georgia Pro Condensed"/>
              </a:rPr>
              <a:t>s.</a:t>
            </a:r>
          </a:p>
          <a:p>
            <a:pPr algn="l" marL="777240" indent="-388620" lvl="1">
              <a:lnSpc>
                <a:spcPts val="5400"/>
              </a:lnSpc>
              <a:buFont typeface="Arial"/>
              <a:buChar char="•"/>
            </a:pPr>
            <a:r>
              <a:rPr lang="en-US" b="true" sz="3600" spc="-107">
                <a:solidFill>
                  <a:srgbClr val="000000"/>
                </a:solidFill>
                <a:latin typeface="Georgia Pro Condensed Bold"/>
                <a:ea typeface="Georgia Pro Condensed Bold"/>
                <a:cs typeface="Georgia Pro Condensed Bold"/>
                <a:sym typeface="Georgia Pro Condensed Bold"/>
              </a:rPr>
              <a:t>Robust </a:t>
            </a:r>
            <a:r>
              <a:rPr lang="en-US" b="true" sz="3600" spc="-107">
                <a:solidFill>
                  <a:srgbClr val="000000"/>
                </a:solidFill>
                <a:latin typeface="Georgia Pro Condensed Bold"/>
                <a:ea typeface="Georgia Pro Condensed Bold"/>
                <a:cs typeface="Georgia Pro Condensed Bold"/>
                <a:sym typeface="Georgia Pro Condensed Bold"/>
              </a:rPr>
              <a:t>P</a:t>
            </a:r>
            <a:r>
              <a:rPr lang="en-US" b="true" sz="3600" spc="-107">
                <a:solidFill>
                  <a:srgbClr val="000000"/>
                </a:solidFill>
                <a:latin typeface="Georgia Pro Condensed Bold"/>
                <a:ea typeface="Georgia Pro Condensed Bold"/>
                <a:cs typeface="Georgia Pro Condensed Bold"/>
                <a:sym typeface="Georgia Pro Condensed Bold"/>
              </a:rPr>
              <a:t>reprocessing</a:t>
            </a:r>
            <a:r>
              <a:rPr lang="en-US" sz="3600" spc="-107">
                <a:solidFill>
                  <a:srgbClr val="000000"/>
                </a:solidFill>
                <a:latin typeface="Georgia Pro Condensed"/>
                <a:ea typeface="Georgia Pro Condensed"/>
                <a:cs typeface="Georgia Pro Condensed"/>
                <a:sym typeface="Georgia Pro Condensed"/>
              </a:rPr>
              <a:t>: A complete</a:t>
            </a:r>
            <a:r>
              <a:rPr lang="en-US" sz="3600" spc="-107">
                <a:solidFill>
                  <a:srgbClr val="000000"/>
                </a:solidFill>
                <a:latin typeface="Georgia Pro Condensed"/>
                <a:ea typeface="Georgia Pro Condensed"/>
                <a:cs typeface="Georgia Pro Condensed"/>
                <a:sym typeface="Georgia Pro Condensed"/>
              </a:rPr>
              <a:t> pipeline </a:t>
            </a:r>
            <a:r>
              <a:rPr lang="en-US" sz="3600" spc="-107">
                <a:solidFill>
                  <a:srgbClr val="000000"/>
                </a:solidFill>
                <a:latin typeface="Georgia Pro Condensed"/>
                <a:ea typeface="Georgia Pro Condensed"/>
                <a:cs typeface="Georgia Pro Condensed"/>
                <a:sym typeface="Georgia Pro Condensed"/>
              </a:rPr>
              <a:t>was built to clean t</a:t>
            </a:r>
            <a:r>
              <a:rPr lang="en-US" sz="3600" spc="-107">
                <a:solidFill>
                  <a:srgbClr val="000000"/>
                </a:solidFill>
                <a:latin typeface="Georgia Pro Condensed"/>
                <a:ea typeface="Georgia Pro Condensed"/>
                <a:cs typeface="Georgia Pro Condensed"/>
                <a:sym typeface="Georgia Pro Condensed"/>
              </a:rPr>
              <a:t>h</a:t>
            </a:r>
            <a:r>
              <a:rPr lang="en-US" sz="3600" spc="-107">
                <a:solidFill>
                  <a:srgbClr val="000000"/>
                </a:solidFill>
                <a:latin typeface="Georgia Pro Condensed"/>
                <a:ea typeface="Georgia Pro Condensed"/>
                <a:cs typeface="Georgia Pro Condensed"/>
                <a:sym typeface="Georgia Pro Condensed"/>
              </a:rPr>
              <a:t>e d</a:t>
            </a:r>
            <a:r>
              <a:rPr lang="en-US" sz="3600" spc="-107">
                <a:solidFill>
                  <a:srgbClr val="000000"/>
                </a:solidFill>
                <a:latin typeface="Georgia Pro Condensed"/>
                <a:ea typeface="Georgia Pro Condensed"/>
                <a:cs typeface="Georgia Pro Condensed"/>
                <a:sym typeface="Georgia Pro Condensed"/>
              </a:rPr>
              <a:t>a</a:t>
            </a:r>
            <a:r>
              <a:rPr lang="en-US" sz="3600" spc="-107">
                <a:solidFill>
                  <a:srgbClr val="000000"/>
                </a:solidFill>
                <a:latin typeface="Georgia Pro Condensed"/>
                <a:ea typeface="Georgia Pro Condensed"/>
                <a:cs typeface="Georgia Pro Condensed"/>
                <a:sym typeface="Georgia Pro Condensed"/>
              </a:rPr>
              <a:t>ta, e</a:t>
            </a:r>
            <a:r>
              <a:rPr lang="en-US" sz="3600" spc="-107">
                <a:solidFill>
                  <a:srgbClr val="000000"/>
                </a:solidFill>
                <a:latin typeface="Georgia Pro Condensed"/>
                <a:ea typeface="Georgia Pro Condensed"/>
                <a:cs typeface="Georgia Pro Condensed"/>
                <a:sym typeface="Georgia Pro Condensed"/>
              </a:rPr>
              <a:t>n</a:t>
            </a:r>
            <a:r>
              <a:rPr lang="en-US" sz="3600" spc="-107">
                <a:solidFill>
                  <a:srgbClr val="000000"/>
                </a:solidFill>
                <a:latin typeface="Georgia Pro Condensed"/>
                <a:ea typeface="Georgia Pro Condensed"/>
                <a:cs typeface="Georgia Pro Condensed"/>
                <a:sym typeface="Georgia Pro Condensed"/>
              </a:rPr>
              <a:t>co</a:t>
            </a:r>
            <a:r>
              <a:rPr lang="en-US" sz="3600" spc="-107">
                <a:solidFill>
                  <a:srgbClr val="000000"/>
                </a:solidFill>
                <a:latin typeface="Georgia Pro Condensed"/>
                <a:ea typeface="Georgia Pro Condensed"/>
                <a:cs typeface="Georgia Pro Condensed"/>
                <a:sym typeface="Georgia Pro Condensed"/>
              </a:rPr>
              <a:t>d</a:t>
            </a:r>
            <a:r>
              <a:rPr lang="en-US" sz="3600" spc="-107">
                <a:solidFill>
                  <a:srgbClr val="000000"/>
                </a:solidFill>
                <a:latin typeface="Georgia Pro Condensed"/>
                <a:ea typeface="Georgia Pro Condensed"/>
                <a:cs typeface="Georgia Pro Condensed"/>
                <a:sym typeface="Georgia Pro Condensed"/>
              </a:rPr>
              <a:t>e features, sca</a:t>
            </a:r>
            <a:r>
              <a:rPr lang="en-US" sz="3600" spc="-107">
                <a:solidFill>
                  <a:srgbClr val="000000"/>
                </a:solidFill>
                <a:latin typeface="Georgia Pro Condensed"/>
                <a:ea typeface="Georgia Pro Condensed"/>
                <a:cs typeface="Georgia Pro Condensed"/>
                <a:sym typeface="Georgia Pro Condensed"/>
              </a:rPr>
              <a:t>l</a:t>
            </a:r>
            <a:r>
              <a:rPr lang="en-US" sz="3600" spc="-107">
                <a:solidFill>
                  <a:srgbClr val="000000"/>
                </a:solidFill>
                <a:latin typeface="Georgia Pro Condensed"/>
                <a:ea typeface="Georgia Pro Condensed"/>
                <a:cs typeface="Georgia Pro Condensed"/>
                <a:sym typeface="Georgia Pro Condensed"/>
              </a:rPr>
              <a:t>e numer</a:t>
            </a:r>
            <a:r>
              <a:rPr lang="en-US" sz="3600" spc="-107">
                <a:solidFill>
                  <a:srgbClr val="000000"/>
                </a:solidFill>
                <a:latin typeface="Georgia Pro Condensed"/>
                <a:ea typeface="Georgia Pro Condensed"/>
                <a:cs typeface="Georgia Pro Condensed"/>
                <a:sym typeface="Georgia Pro Condensed"/>
              </a:rPr>
              <a:t>i</a:t>
            </a:r>
            <a:r>
              <a:rPr lang="en-US" sz="3600" spc="-107">
                <a:solidFill>
                  <a:srgbClr val="000000"/>
                </a:solidFill>
                <a:latin typeface="Georgia Pro Condensed"/>
                <a:ea typeface="Georgia Pro Condensed"/>
                <a:cs typeface="Georgia Pro Condensed"/>
                <a:sym typeface="Georgia Pro Condensed"/>
              </a:rPr>
              <a:t>cal fields, a</a:t>
            </a:r>
            <a:r>
              <a:rPr lang="en-US" sz="3600" spc="-107">
                <a:solidFill>
                  <a:srgbClr val="000000"/>
                </a:solidFill>
                <a:latin typeface="Georgia Pro Condensed"/>
                <a:ea typeface="Georgia Pro Condensed"/>
                <a:cs typeface="Georgia Pro Condensed"/>
                <a:sym typeface="Georgia Pro Condensed"/>
              </a:rPr>
              <a:t>n</a:t>
            </a:r>
            <a:r>
              <a:rPr lang="en-US" sz="3600" spc="-107">
                <a:solidFill>
                  <a:srgbClr val="000000"/>
                </a:solidFill>
                <a:latin typeface="Georgia Pro Condensed"/>
                <a:ea typeface="Georgia Pro Condensed"/>
                <a:cs typeface="Georgia Pro Condensed"/>
                <a:sym typeface="Georgia Pro Condensed"/>
              </a:rPr>
              <a:t>d handle class</a:t>
            </a:r>
            <a:r>
              <a:rPr lang="en-US" sz="3600" spc="-107">
                <a:solidFill>
                  <a:srgbClr val="000000"/>
                </a:solidFill>
                <a:latin typeface="Georgia Pro Condensed"/>
                <a:ea typeface="Georgia Pro Condensed"/>
                <a:cs typeface="Georgia Pro Condensed"/>
                <a:sym typeface="Georgia Pro Condensed"/>
              </a:rPr>
              <a:t> imbalance</a:t>
            </a:r>
            <a:r>
              <a:rPr lang="en-US" sz="3600" spc="-107">
                <a:solidFill>
                  <a:srgbClr val="000000"/>
                </a:solidFill>
                <a:latin typeface="Georgia Pro Condensed"/>
                <a:ea typeface="Georgia Pro Condensed"/>
                <a:cs typeface="Georgia Pro Condensed"/>
                <a:sym typeface="Georgia Pro Condensed"/>
              </a:rPr>
              <a:t>, ensuring mo</a:t>
            </a:r>
            <a:r>
              <a:rPr lang="en-US" sz="3600" spc="-107">
                <a:solidFill>
                  <a:srgbClr val="000000"/>
                </a:solidFill>
                <a:latin typeface="Georgia Pro Condensed"/>
                <a:ea typeface="Georgia Pro Condensed"/>
                <a:cs typeface="Georgia Pro Condensed"/>
                <a:sym typeface="Georgia Pro Condensed"/>
              </a:rPr>
              <a:t>d</a:t>
            </a:r>
            <a:r>
              <a:rPr lang="en-US" sz="3600" spc="-107">
                <a:solidFill>
                  <a:srgbClr val="000000"/>
                </a:solidFill>
                <a:latin typeface="Georgia Pro Condensed"/>
                <a:ea typeface="Georgia Pro Condensed"/>
                <a:cs typeface="Georgia Pro Condensed"/>
                <a:sym typeface="Georgia Pro Condensed"/>
              </a:rPr>
              <a:t>els</a:t>
            </a:r>
            <a:r>
              <a:rPr lang="en-US" sz="3600" spc="-107">
                <a:solidFill>
                  <a:srgbClr val="000000"/>
                </a:solidFill>
                <a:latin typeface="Georgia Pro Condensed"/>
                <a:ea typeface="Georgia Pro Condensed"/>
                <a:cs typeface="Georgia Pro Condensed"/>
                <a:sym typeface="Georgia Pro Condensed"/>
              </a:rPr>
              <a:t> </a:t>
            </a:r>
            <a:r>
              <a:rPr lang="en-US" sz="3600" spc="-107">
                <a:solidFill>
                  <a:srgbClr val="000000"/>
                </a:solidFill>
                <a:latin typeface="Georgia Pro Condensed"/>
                <a:ea typeface="Georgia Pro Condensed"/>
                <a:cs typeface="Georgia Pro Condensed"/>
                <a:sym typeface="Georgia Pro Condensed"/>
              </a:rPr>
              <a:t>receive</a:t>
            </a:r>
            <a:r>
              <a:rPr lang="en-US" sz="3600" spc="-107">
                <a:solidFill>
                  <a:srgbClr val="000000"/>
                </a:solidFill>
                <a:latin typeface="Georgia Pro Condensed"/>
                <a:ea typeface="Georgia Pro Condensed"/>
                <a:cs typeface="Georgia Pro Condensed"/>
                <a:sym typeface="Georgia Pro Condensed"/>
              </a:rPr>
              <a:t>d</a:t>
            </a:r>
            <a:r>
              <a:rPr lang="en-US" sz="3600" spc="-107">
                <a:solidFill>
                  <a:srgbClr val="000000"/>
                </a:solidFill>
                <a:latin typeface="Georgia Pro Condensed"/>
                <a:ea typeface="Georgia Pro Condensed"/>
                <a:cs typeface="Georgia Pro Condensed"/>
                <a:sym typeface="Georgia Pro Condensed"/>
              </a:rPr>
              <a:t> high-qu</a:t>
            </a:r>
            <a:r>
              <a:rPr lang="en-US" sz="3600" spc="-107">
                <a:solidFill>
                  <a:srgbClr val="000000"/>
                </a:solidFill>
                <a:latin typeface="Georgia Pro Condensed"/>
                <a:ea typeface="Georgia Pro Condensed"/>
                <a:cs typeface="Georgia Pro Condensed"/>
                <a:sym typeface="Georgia Pro Condensed"/>
              </a:rPr>
              <a:t>a</a:t>
            </a:r>
            <a:r>
              <a:rPr lang="en-US" sz="3600" spc="-107">
                <a:solidFill>
                  <a:srgbClr val="000000"/>
                </a:solidFill>
                <a:latin typeface="Georgia Pro Condensed"/>
                <a:ea typeface="Georgia Pro Condensed"/>
                <a:cs typeface="Georgia Pro Condensed"/>
                <a:sym typeface="Georgia Pro Condensed"/>
              </a:rPr>
              <a:t>li</a:t>
            </a:r>
            <a:r>
              <a:rPr lang="en-US" sz="3600" spc="-107">
                <a:solidFill>
                  <a:srgbClr val="000000"/>
                </a:solidFill>
                <a:latin typeface="Georgia Pro Condensed"/>
                <a:ea typeface="Georgia Pro Condensed"/>
                <a:cs typeface="Georgia Pro Condensed"/>
                <a:sym typeface="Georgia Pro Condensed"/>
              </a:rPr>
              <a:t>t</a:t>
            </a:r>
            <a:r>
              <a:rPr lang="en-US" sz="3600" spc="-107">
                <a:solidFill>
                  <a:srgbClr val="000000"/>
                </a:solidFill>
                <a:latin typeface="Georgia Pro Condensed"/>
                <a:ea typeface="Georgia Pro Condensed"/>
                <a:cs typeface="Georgia Pro Condensed"/>
                <a:sym typeface="Georgia Pro Condensed"/>
              </a:rPr>
              <a:t>y inputs</a:t>
            </a:r>
            <a:r>
              <a:rPr lang="en-US" sz="3600" spc="-107">
                <a:solidFill>
                  <a:srgbClr val="000000"/>
                </a:solidFill>
                <a:latin typeface="Georgia Pro Condensed"/>
                <a:ea typeface="Georgia Pro Condensed"/>
                <a:cs typeface="Georgia Pro Condensed"/>
                <a:sym typeface="Georgia Pro Condensed"/>
              </a:rPr>
              <a:t>.</a:t>
            </a:r>
          </a:p>
          <a:p>
            <a:pPr algn="l" marL="777240" indent="-388620" lvl="1">
              <a:lnSpc>
                <a:spcPts val="5400"/>
              </a:lnSpc>
              <a:buFont typeface="Arial"/>
              <a:buChar char="•"/>
            </a:pPr>
            <a:r>
              <a:rPr lang="en-US" b="true" sz="3600" spc="-107">
                <a:solidFill>
                  <a:srgbClr val="000000"/>
                </a:solidFill>
                <a:latin typeface="Georgia Pro Condensed Bold"/>
                <a:ea typeface="Georgia Pro Condensed Bold"/>
                <a:cs typeface="Georgia Pro Condensed Bold"/>
                <a:sym typeface="Georgia Pro Condensed Bold"/>
              </a:rPr>
              <a:t>82% </a:t>
            </a:r>
            <a:r>
              <a:rPr lang="en-US" b="true" sz="3600" spc="-107">
                <a:solidFill>
                  <a:srgbClr val="000000"/>
                </a:solidFill>
                <a:latin typeface="Georgia Pro Condensed Bold"/>
                <a:ea typeface="Georgia Pro Condensed Bold"/>
                <a:cs typeface="Georgia Pro Condensed Bold"/>
                <a:sym typeface="Georgia Pro Condensed Bold"/>
              </a:rPr>
              <a:t>R</a:t>
            </a:r>
            <a:r>
              <a:rPr lang="en-US" b="true" sz="3600" spc="-107">
                <a:solidFill>
                  <a:srgbClr val="000000"/>
                </a:solidFill>
                <a:latin typeface="Georgia Pro Condensed Bold"/>
                <a:ea typeface="Georgia Pro Condensed Bold"/>
                <a:cs typeface="Georgia Pro Condensed Bold"/>
                <a:sym typeface="Georgia Pro Condensed Bold"/>
              </a:rPr>
              <a:t>ecall</a:t>
            </a:r>
            <a:r>
              <a:rPr lang="en-US" sz="3600" spc="-107">
                <a:solidFill>
                  <a:srgbClr val="000000"/>
                </a:solidFill>
                <a:latin typeface="Georgia Pro Condensed"/>
                <a:ea typeface="Georgia Pro Condensed"/>
                <a:cs typeface="Georgia Pro Condensed"/>
                <a:sym typeface="Georgia Pro Condensed"/>
              </a:rPr>
              <a:t>: The model successfully</a:t>
            </a:r>
            <a:r>
              <a:rPr lang="en-US" sz="3600" spc="-107">
                <a:solidFill>
                  <a:srgbClr val="000000"/>
                </a:solidFill>
                <a:latin typeface="Georgia Pro Condensed"/>
                <a:ea typeface="Georgia Pro Condensed"/>
                <a:cs typeface="Georgia Pro Condensed"/>
                <a:sym typeface="Georgia Pro Condensed"/>
              </a:rPr>
              <a:t> identif</a:t>
            </a:r>
            <a:r>
              <a:rPr lang="en-US" sz="3600" spc="-107">
                <a:solidFill>
                  <a:srgbClr val="000000"/>
                </a:solidFill>
                <a:latin typeface="Georgia Pro Condensed"/>
                <a:ea typeface="Georgia Pro Condensed"/>
                <a:cs typeface="Georgia Pro Condensed"/>
                <a:sym typeface="Georgia Pro Condensed"/>
              </a:rPr>
              <a:t>ied the major</a:t>
            </a:r>
            <a:r>
              <a:rPr lang="en-US" sz="3600" spc="-107">
                <a:solidFill>
                  <a:srgbClr val="000000"/>
                </a:solidFill>
                <a:latin typeface="Georgia Pro Condensed"/>
                <a:ea typeface="Georgia Pro Condensed"/>
                <a:cs typeface="Georgia Pro Condensed"/>
                <a:sym typeface="Georgia Pro Condensed"/>
              </a:rPr>
              <a:t>i</a:t>
            </a:r>
            <a:r>
              <a:rPr lang="en-US" sz="3600" spc="-107">
                <a:solidFill>
                  <a:srgbClr val="000000"/>
                </a:solidFill>
                <a:latin typeface="Georgia Pro Condensed"/>
                <a:ea typeface="Georgia Pro Condensed"/>
                <a:cs typeface="Georgia Pro Condensed"/>
                <a:sym typeface="Georgia Pro Condensed"/>
              </a:rPr>
              <a:t>ty of</a:t>
            </a:r>
            <a:r>
              <a:rPr lang="en-US" sz="3600" spc="-107">
                <a:solidFill>
                  <a:srgbClr val="000000"/>
                </a:solidFill>
                <a:latin typeface="Georgia Pro Condensed"/>
                <a:ea typeface="Georgia Pro Condensed"/>
                <a:cs typeface="Georgia Pro Condensed"/>
                <a:sym typeface="Georgia Pro Condensed"/>
              </a:rPr>
              <a:t> churners</a:t>
            </a:r>
            <a:r>
              <a:rPr lang="en-US" sz="3600" spc="-107">
                <a:solidFill>
                  <a:srgbClr val="000000"/>
                </a:solidFill>
                <a:latin typeface="Georgia Pro Condensed"/>
                <a:ea typeface="Georgia Pro Condensed"/>
                <a:cs typeface="Georgia Pro Condensed"/>
                <a:sym typeface="Georgia Pro Condensed"/>
              </a:rPr>
              <a:t>, making it highly effective</a:t>
            </a:r>
            <a:r>
              <a:rPr lang="en-US" sz="3600" spc="-107">
                <a:solidFill>
                  <a:srgbClr val="000000"/>
                </a:solidFill>
                <a:latin typeface="Georgia Pro Condensed"/>
                <a:ea typeface="Georgia Pro Condensed"/>
                <a:cs typeface="Georgia Pro Condensed"/>
                <a:sym typeface="Georgia Pro Condensed"/>
              </a:rPr>
              <a:t> for </a:t>
            </a:r>
            <a:r>
              <a:rPr lang="en-US" sz="3600" spc="-107">
                <a:solidFill>
                  <a:srgbClr val="000000"/>
                </a:solidFill>
                <a:latin typeface="Georgia Pro Condensed"/>
                <a:ea typeface="Georgia Pro Condensed"/>
                <a:cs typeface="Georgia Pro Condensed"/>
                <a:sym typeface="Georgia Pro Condensed"/>
              </a:rPr>
              <a:t>proactive </a:t>
            </a:r>
            <a:r>
              <a:rPr lang="en-US" sz="3600" spc="-107">
                <a:solidFill>
                  <a:srgbClr val="000000"/>
                </a:solidFill>
                <a:latin typeface="Georgia Pro Condensed"/>
                <a:ea typeface="Georgia Pro Condensed"/>
                <a:cs typeface="Georgia Pro Condensed"/>
                <a:sym typeface="Georgia Pro Condensed"/>
              </a:rPr>
              <a:t>retention</a:t>
            </a:r>
            <a:r>
              <a:rPr lang="en-US" sz="3600" spc="-107">
                <a:solidFill>
                  <a:srgbClr val="000000"/>
                </a:solidFill>
                <a:latin typeface="Georgia Pro Condensed"/>
                <a:ea typeface="Georgia Pro Condensed"/>
                <a:cs typeface="Georgia Pro Condensed"/>
                <a:sym typeface="Georgia Pro Condensed"/>
              </a:rPr>
              <a:t> efforts where catching at-risk customers is critical</a:t>
            </a:r>
            <a:r>
              <a:rPr lang="en-US" sz="3600" spc="-107">
                <a:solidFill>
                  <a:srgbClr val="000000"/>
                </a:solidFill>
                <a:latin typeface="Georgia Pro Condensed"/>
                <a:ea typeface="Georgia Pro Condensed"/>
                <a:cs typeface="Georgia Pro Condensed"/>
                <a:sym typeface="Georgia Pro Condensed"/>
              </a:rPr>
              <a:t>.</a:t>
            </a:r>
          </a:p>
          <a:p>
            <a:pPr algn="l" marL="777240" indent="-388620" lvl="1">
              <a:lnSpc>
                <a:spcPts val="5400"/>
              </a:lnSpc>
              <a:buFont typeface="Arial"/>
              <a:buChar char="•"/>
            </a:pPr>
            <a:r>
              <a:rPr lang="en-US" b="true" sz="3600" spc="-107">
                <a:solidFill>
                  <a:srgbClr val="000000"/>
                </a:solidFill>
                <a:latin typeface="Georgia Pro Condensed Bold"/>
                <a:ea typeface="Georgia Pro Condensed Bold"/>
                <a:cs typeface="Georgia Pro Condensed Bold"/>
                <a:sym typeface="Georgia Pro Condensed Bold"/>
              </a:rPr>
              <a:t>Business-</a:t>
            </a:r>
            <a:r>
              <a:rPr lang="en-US" b="true" sz="3600" spc="-107">
                <a:solidFill>
                  <a:srgbClr val="000000"/>
                </a:solidFill>
                <a:latin typeface="Georgia Pro Condensed Bold"/>
                <a:ea typeface="Georgia Pro Condensed Bold"/>
                <a:cs typeface="Georgia Pro Condensed Bold"/>
                <a:sym typeface="Georgia Pro Condensed Bold"/>
              </a:rPr>
              <a:t>D</a:t>
            </a:r>
            <a:r>
              <a:rPr lang="en-US" b="true" sz="3600" spc="-107">
                <a:solidFill>
                  <a:srgbClr val="000000"/>
                </a:solidFill>
                <a:latin typeface="Georgia Pro Condensed Bold"/>
                <a:ea typeface="Georgia Pro Condensed Bold"/>
                <a:cs typeface="Georgia Pro Condensed Bold"/>
                <a:sym typeface="Georgia Pro Condensed Bold"/>
              </a:rPr>
              <a:t>riven </a:t>
            </a:r>
            <a:r>
              <a:rPr lang="en-US" b="true" sz="3600" spc="-107">
                <a:solidFill>
                  <a:srgbClr val="000000"/>
                </a:solidFill>
                <a:latin typeface="Georgia Pro Condensed Bold"/>
                <a:ea typeface="Georgia Pro Condensed Bold"/>
                <a:cs typeface="Georgia Pro Condensed Bold"/>
                <a:sym typeface="Georgia Pro Condensed Bold"/>
              </a:rPr>
              <a:t>M</a:t>
            </a:r>
            <a:r>
              <a:rPr lang="en-US" b="true" sz="3600" spc="-107">
                <a:solidFill>
                  <a:srgbClr val="000000"/>
                </a:solidFill>
                <a:latin typeface="Georgia Pro Condensed Bold"/>
                <a:ea typeface="Georgia Pro Condensed Bold"/>
                <a:cs typeface="Georgia Pro Condensed Bold"/>
                <a:sym typeface="Georgia Pro Condensed Bold"/>
              </a:rPr>
              <a:t>etric</a:t>
            </a:r>
            <a:r>
              <a:rPr lang="en-US" b="true" sz="3600" spc="-107">
                <a:solidFill>
                  <a:srgbClr val="000000"/>
                </a:solidFill>
                <a:latin typeface="Georgia Pro Condensed Bold"/>
                <a:ea typeface="Georgia Pro Condensed Bold"/>
                <a:cs typeface="Georgia Pro Condensed Bold"/>
                <a:sym typeface="Georgia Pro Condensed Bold"/>
              </a:rPr>
              <a:t>s</a:t>
            </a:r>
            <a:r>
              <a:rPr lang="en-US" sz="3600" spc="-107">
                <a:solidFill>
                  <a:srgbClr val="000000"/>
                </a:solidFill>
                <a:latin typeface="Georgia Pro Condensed"/>
                <a:ea typeface="Georgia Pro Condensed"/>
                <a:cs typeface="Georgia Pro Condensed"/>
                <a:sym typeface="Georgia Pro Condensed"/>
              </a:rPr>
              <a:t>:</a:t>
            </a:r>
            <a:r>
              <a:rPr lang="en-US" sz="3600" spc="-107">
                <a:solidFill>
                  <a:srgbClr val="000000"/>
                </a:solidFill>
                <a:latin typeface="Georgia Pro Condensed"/>
                <a:ea typeface="Georgia Pro Condensed"/>
                <a:cs typeface="Georgia Pro Condensed"/>
                <a:sym typeface="Georgia Pro Condensed"/>
              </a:rPr>
              <a:t> </a:t>
            </a:r>
            <a:r>
              <a:rPr lang="en-US" sz="3600" spc="-107">
                <a:solidFill>
                  <a:srgbClr val="000000"/>
                </a:solidFill>
                <a:latin typeface="Georgia Pro Condensed"/>
                <a:ea typeface="Georgia Pro Condensed"/>
                <a:cs typeface="Georgia Pro Condensed"/>
                <a:sym typeface="Georgia Pro Condensed"/>
              </a:rPr>
              <a:t>Evaluation focu</a:t>
            </a:r>
            <a:r>
              <a:rPr lang="en-US" sz="3600" spc="-107">
                <a:solidFill>
                  <a:srgbClr val="000000"/>
                </a:solidFill>
                <a:latin typeface="Georgia Pro Condensed"/>
                <a:ea typeface="Georgia Pro Condensed"/>
                <a:cs typeface="Georgia Pro Condensed"/>
                <a:sym typeface="Georgia Pro Condensed"/>
              </a:rPr>
              <a:t>se</a:t>
            </a:r>
            <a:r>
              <a:rPr lang="en-US" sz="3600" spc="-107">
                <a:solidFill>
                  <a:srgbClr val="000000"/>
                </a:solidFill>
                <a:latin typeface="Georgia Pro Condensed"/>
                <a:ea typeface="Georgia Pro Condensed"/>
                <a:cs typeface="Georgia Pro Condensed"/>
                <a:sym typeface="Georgia Pro Condensed"/>
              </a:rPr>
              <a:t>d on reca</a:t>
            </a:r>
            <a:r>
              <a:rPr lang="en-US" sz="3600" spc="-107">
                <a:solidFill>
                  <a:srgbClr val="000000"/>
                </a:solidFill>
                <a:latin typeface="Georgia Pro Condensed"/>
                <a:ea typeface="Georgia Pro Condensed"/>
                <a:cs typeface="Georgia Pro Condensed"/>
                <a:sym typeface="Georgia Pro Condensed"/>
              </a:rPr>
              <a:t>l</a:t>
            </a:r>
            <a:r>
              <a:rPr lang="en-US" sz="3600" spc="-107">
                <a:solidFill>
                  <a:srgbClr val="000000"/>
                </a:solidFill>
                <a:latin typeface="Georgia Pro Condensed"/>
                <a:ea typeface="Georgia Pro Condensed"/>
                <a:cs typeface="Georgia Pro Condensed"/>
                <a:sym typeface="Georgia Pro Condensed"/>
              </a:rPr>
              <a:t>l rath</a:t>
            </a:r>
            <a:r>
              <a:rPr lang="en-US" sz="3600" spc="-107">
                <a:solidFill>
                  <a:srgbClr val="000000"/>
                </a:solidFill>
                <a:latin typeface="Georgia Pro Condensed"/>
                <a:ea typeface="Georgia Pro Condensed"/>
                <a:cs typeface="Georgia Pro Condensed"/>
                <a:sym typeface="Georgia Pro Condensed"/>
              </a:rPr>
              <a:t>e</a:t>
            </a:r>
            <a:r>
              <a:rPr lang="en-US" sz="3600" spc="-107">
                <a:solidFill>
                  <a:srgbClr val="000000"/>
                </a:solidFill>
                <a:latin typeface="Georgia Pro Condensed"/>
                <a:ea typeface="Georgia Pro Condensed"/>
                <a:cs typeface="Georgia Pro Condensed"/>
                <a:sym typeface="Georgia Pro Condensed"/>
              </a:rPr>
              <a:t>r </a:t>
            </a:r>
            <a:r>
              <a:rPr lang="en-US" sz="3600" spc="-107">
                <a:solidFill>
                  <a:srgbClr val="000000"/>
                </a:solidFill>
                <a:latin typeface="Georgia Pro Condensed"/>
                <a:ea typeface="Georgia Pro Condensed"/>
                <a:cs typeface="Georgia Pro Condensed"/>
                <a:sym typeface="Georgia Pro Condensed"/>
              </a:rPr>
              <a:t>t</a:t>
            </a:r>
            <a:r>
              <a:rPr lang="en-US" sz="3600" spc="-107">
                <a:solidFill>
                  <a:srgbClr val="000000"/>
                </a:solidFill>
                <a:latin typeface="Georgia Pro Condensed"/>
                <a:ea typeface="Georgia Pro Condensed"/>
                <a:cs typeface="Georgia Pro Condensed"/>
                <a:sym typeface="Georgia Pro Condensed"/>
              </a:rPr>
              <a:t>han accuracy, al</a:t>
            </a:r>
            <a:r>
              <a:rPr lang="en-US" sz="3600" spc="-107">
                <a:solidFill>
                  <a:srgbClr val="000000"/>
                </a:solidFill>
                <a:latin typeface="Georgia Pro Condensed"/>
                <a:ea typeface="Georgia Pro Condensed"/>
                <a:cs typeface="Georgia Pro Condensed"/>
                <a:sym typeface="Georgia Pro Condensed"/>
              </a:rPr>
              <a:t>i</a:t>
            </a:r>
            <a:r>
              <a:rPr lang="en-US" sz="3600" spc="-107">
                <a:solidFill>
                  <a:srgbClr val="000000"/>
                </a:solidFill>
                <a:latin typeface="Georgia Pro Condensed"/>
                <a:ea typeface="Georgia Pro Condensed"/>
                <a:cs typeface="Georgia Pro Condensed"/>
                <a:sym typeface="Georgia Pro Condensed"/>
              </a:rPr>
              <a:t>gning the m</a:t>
            </a:r>
            <a:r>
              <a:rPr lang="en-US" sz="3600" spc="-107">
                <a:solidFill>
                  <a:srgbClr val="000000"/>
                </a:solidFill>
                <a:latin typeface="Georgia Pro Condensed"/>
                <a:ea typeface="Georgia Pro Condensed"/>
                <a:cs typeface="Georgia Pro Condensed"/>
                <a:sym typeface="Georgia Pro Condensed"/>
              </a:rPr>
              <a:t>o</a:t>
            </a:r>
            <a:r>
              <a:rPr lang="en-US" sz="3600" spc="-107">
                <a:solidFill>
                  <a:srgbClr val="000000"/>
                </a:solidFill>
                <a:latin typeface="Georgia Pro Condensed"/>
                <a:ea typeface="Georgia Pro Condensed"/>
                <a:cs typeface="Georgia Pro Condensed"/>
                <a:sym typeface="Georgia Pro Condensed"/>
              </a:rPr>
              <a:t>deli</a:t>
            </a:r>
            <a:r>
              <a:rPr lang="en-US" sz="3600" spc="-107">
                <a:solidFill>
                  <a:srgbClr val="000000"/>
                </a:solidFill>
                <a:latin typeface="Georgia Pro Condensed"/>
                <a:ea typeface="Georgia Pro Condensed"/>
                <a:cs typeface="Georgia Pro Condensed"/>
                <a:sym typeface="Georgia Pro Condensed"/>
              </a:rPr>
              <a:t>n</a:t>
            </a:r>
            <a:r>
              <a:rPr lang="en-US" sz="3600" spc="-107">
                <a:solidFill>
                  <a:srgbClr val="000000"/>
                </a:solidFill>
                <a:latin typeface="Georgia Pro Condensed"/>
                <a:ea typeface="Georgia Pro Condensed"/>
                <a:cs typeface="Georgia Pro Condensed"/>
                <a:sym typeface="Georgia Pro Condensed"/>
              </a:rPr>
              <a:t>g</a:t>
            </a:r>
            <a:r>
              <a:rPr lang="en-US" sz="3600" spc="-107">
                <a:solidFill>
                  <a:srgbClr val="000000"/>
                </a:solidFill>
                <a:latin typeface="Georgia Pro Condensed"/>
                <a:ea typeface="Georgia Pro Condensed"/>
                <a:cs typeface="Georgia Pro Condensed"/>
                <a:sym typeface="Georgia Pro Condensed"/>
              </a:rPr>
              <a:t> </a:t>
            </a:r>
            <a:r>
              <a:rPr lang="en-US" sz="3600" spc="-107">
                <a:solidFill>
                  <a:srgbClr val="000000"/>
                </a:solidFill>
                <a:latin typeface="Georgia Pro Condensed"/>
                <a:ea typeface="Georgia Pro Condensed"/>
                <a:cs typeface="Georgia Pro Condensed"/>
                <a:sym typeface="Georgia Pro Condensed"/>
              </a:rPr>
              <a:t>ap</a:t>
            </a:r>
            <a:r>
              <a:rPr lang="en-US" sz="3600" spc="-107">
                <a:solidFill>
                  <a:srgbClr val="000000"/>
                </a:solidFill>
                <a:latin typeface="Georgia Pro Condensed"/>
                <a:ea typeface="Georgia Pro Condensed"/>
                <a:cs typeface="Georgia Pro Condensed"/>
                <a:sym typeface="Georgia Pro Condensed"/>
              </a:rPr>
              <a:t>pr</a:t>
            </a:r>
            <a:r>
              <a:rPr lang="en-US" sz="3600" spc="-107">
                <a:solidFill>
                  <a:srgbClr val="000000"/>
                </a:solidFill>
                <a:latin typeface="Georgia Pro Condensed"/>
                <a:ea typeface="Georgia Pro Condensed"/>
                <a:cs typeface="Georgia Pro Condensed"/>
                <a:sym typeface="Georgia Pro Condensed"/>
              </a:rPr>
              <a:t>oach w</a:t>
            </a:r>
            <a:r>
              <a:rPr lang="en-US" sz="3600" spc="-107">
                <a:solidFill>
                  <a:srgbClr val="000000"/>
                </a:solidFill>
                <a:latin typeface="Georgia Pro Condensed"/>
                <a:ea typeface="Georgia Pro Condensed"/>
                <a:cs typeface="Georgia Pro Condensed"/>
                <a:sym typeface="Georgia Pro Condensed"/>
              </a:rPr>
              <a:t>i</a:t>
            </a:r>
            <a:r>
              <a:rPr lang="en-US" sz="3600" spc="-107">
                <a:solidFill>
                  <a:srgbClr val="000000"/>
                </a:solidFill>
                <a:latin typeface="Georgia Pro Condensed"/>
                <a:ea typeface="Georgia Pro Condensed"/>
                <a:cs typeface="Georgia Pro Condensed"/>
                <a:sym typeface="Georgia Pro Condensed"/>
              </a:rPr>
              <a:t>th </a:t>
            </a:r>
            <a:r>
              <a:rPr lang="en-US" sz="3600" spc="-107">
                <a:solidFill>
                  <a:srgbClr val="000000"/>
                </a:solidFill>
                <a:latin typeface="Georgia Pro Condensed"/>
                <a:ea typeface="Georgia Pro Condensed"/>
                <a:cs typeface="Georgia Pro Condensed"/>
                <a:sym typeface="Georgia Pro Condensed"/>
              </a:rPr>
              <a:t>r</a:t>
            </a:r>
            <a:r>
              <a:rPr lang="en-US" sz="3600" spc="-107">
                <a:solidFill>
                  <a:srgbClr val="000000"/>
                </a:solidFill>
                <a:latin typeface="Georgia Pro Condensed"/>
                <a:ea typeface="Georgia Pro Condensed"/>
                <a:cs typeface="Georgia Pro Condensed"/>
                <a:sym typeface="Georgia Pro Condensed"/>
              </a:rPr>
              <a:t>eal bus</a:t>
            </a:r>
            <a:r>
              <a:rPr lang="en-US" sz="3600" spc="-107">
                <a:solidFill>
                  <a:srgbClr val="000000"/>
                </a:solidFill>
                <a:latin typeface="Georgia Pro Condensed"/>
                <a:ea typeface="Georgia Pro Condensed"/>
                <a:cs typeface="Georgia Pro Condensed"/>
                <a:sym typeface="Georgia Pro Condensed"/>
              </a:rPr>
              <a:t>i</a:t>
            </a:r>
            <a:r>
              <a:rPr lang="en-US" sz="3600" spc="-107">
                <a:solidFill>
                  <a:srgbClr val="000000"/>
                </a:solidFill>
                <a:latin typeface="Georgia Pro Condensed"/>
                <a:ea typeface="Georgia Pro Condensed"/>
                <a:cs typeface="Georgia Pro Condensed"/>
                <a:sym typeface="Georgia Pro Condensed"/>
              </a:rPr>
              <a:t>ness needs where m</a:t>
            </a:r>
            <a:r>
              <a:rPr lang="en-US" sz="3600" spc="-107">
                <a:solidFill>
                  <a:srgbClr val="000000"/>
                </a:solidFill>
                <a:latin typeface="Georgia Pro Condensed"/>
                <a:ea typeface="Georgia Pro Condensed"/>
                <a:cs typeface="Georgia Pro Condensed"/>
                <a:sym typeface="Georgia Pro Condensed"/>
              </a:rPr>
              <a:t>i</a:t>
            </a:r>
            <a:r>
              <a:rPr lang="en-US" sz="3600" spc="-107">
                <a:solidFill>
                  <a:srgbClr val="000000"/>
                </a:solidFill>
                <a:latin typeface="Georgia Pro Condensed"/>
                <a:ea typeface="Georgia Pro Condensed"/>
                <a:cs typeface="Georgia Pro Condensed"/>
                <a:sym typeface="Georgia Pro Condensed"/>
              </a:rPr>
              <a:t>ss</a:t>
            </a:r>
            <a:r>
              <a:rPr lang="en-US" sz="3600" spc="-107">
                <a:solidFill>
                  <a:srgbClr val="000000"/>
                </a:solidFill>
                <a:latin typeface="Georgia Pro Condensed"/>
                <a:ea typeface="Georgia Pro Condensed"/>
                <a:cs typeface="Georgia Pro Condensed"/>
                <a:sym typeface="Georgia Pro Condensed"/>
              </a:rPr>
              <a:t>ing </a:t>
            </a:r>
            <a:r>
              <a:rPr lang="en-US" sz="3600" spc="-107">
                <a:solidFill>
                  <a:srgbClr val="000000"/>
                </a:solidFill>
                <a:latin typeface="Georgia Pro Condensed"/>
                <a:ea typeface="Georgia Pro Condensed"/>
                <a:cs typeface="Georgia Pro Condensed"/>
                <a:sym typeface="Georgia Pro Condensed"/>
              </a:rPr>
              <a:t>a chu</a:t>
            </a:r>
            <a:r>
              <a:rPr lang="en-US" sz="3600" spc="-107">
                <a:solidFill>
                  <a:srgbClr val="000000"/>
                </a:solidFill>
                <a:latin typeface="Georgia Pro Condensed"/>
                <a:ea typeface="Georgia Pro Condensed"/>
                <a:cs typeface="Georgia Pro Condensed"/>
                <a:sym typeface="Georgia Pro Condensed"/>
              </a:rPr>
              <a:t>r</a:t>
            </a:r>
            <a:r>
              <a:rPr lang="en-US" sz="3600" spc="-107">
                <a:solidFill>
                  <a:srgbClr val="000000"/>
                </a:solidFill>
                <a:latin typeface="Georgia Pro Condensed"/>
                <a:ea typeface="Georgia Pro Condensed"/>
                <a:cs typeface="Georgia Pro Condensed"/>
                <a:sym typeface="Georgia Pro Condensed"/>
              </a:rPr>
              <a:t>n</a:t>
            </a:r>
            <a:r>
              <a:rPr lang="en-US" sz="3600" spc="-107">
                <a:solidFill>
                  <a:srgbClr val="000000"/>
                </a:solidFill>
                <a:latin typeface="Georgia Pro Condensed"/>
                <a:ea typeface="Georgia Pro Condensed"/>
                <a:cs typeface="Georgia Pro Condensed"/>
                <a:sym typeface="Georgia Pro Condensed"/>
              </a:rPr>
              <a:t>e</a:t>
            </a:r>
            <a:r>
              <a:rPr lang="en-US" sz="3600" spc="-107">
                <a:solidFill>
                  <a:srgbClr val="000000"/>
                </a:solidFill>
                <a:latin typeface="Georgia Pro Condensed"/>
                <a:ea typeface="Georgia Pro Condensed"/>
                <a:cs typeface="Georgia Pro Condensed"/>
                <a:sym typeface="Georgia Pro Condensed"/>
              </a:rPr>
              <a:t>r is more </a:t>
            </a:r>
            <a:r>
              <a:rPr lang="en-US" sz="3600" spc="-107">
                <a:solidFill>
                  <a:srgbClr val="000000"/>
                </a:solidFill>
                <a:latin typeface="Georgia Pro Condensed"/>
                <a:ea typeface="Georgia Pro Condensed"/>
                <a:cs typeface="Georgia Pro Condensed"/>
                <a:sym typeface="Georgia Pro Condensed"/>
              </a:rPr>
              <a:t>c</a:t>
            </a:r>
            <a:r>
              <a:rPr lang="en-US" sz="3600" spc="-107">
                <a:solidFill>
                  <a:srgbClr val="000000"/>
                </a:solidFill>
                <a:latin typeface="Georgia Pro Condensed"/>
                <a:ea typeface="Georgia Pro Condensed"/>
                <a:cs typeface="Georgia Pro Condensed"/>
                <a:sym typeface="Georgia Pro Condensed"/>
              </a:rPr>
              <a:t>ostly than a f</a:t>
            </a:r>
            <a:r>
              <a:rPr lang="en-US" sz="3600" spc="-107">
                <a:solidFill>
                  <a:srgbClr val="000000"/>
                </a:solidFill>
                <a:latin typeface="Georgia Pro Condensed"/>
                <a:ea typeface="Georgia Pro Condensed"/>
                <a:cs typeface="Georgia Pro Condensed"/>
                <a:sym typeface="Georgia Pro Condensed"/>
              </a:rPr>
              <a:t>al</a:t>
            </a:r>
            <a:r>
              <a:rPr lang="en-US" sz="3600" spc="-107">
                <a:solidFill>
                  <a:srgbClr val="000000"/>
                </a:solidFill>
                <a:latin typeface="Georgia Pro Condensed"/>
                <a:ea typeface="Georgia Pro Condensed"/>
                <a:cs typeface="Georgia Pro Condensed"/>
                <a:sym typeface="Georgia Pro Condensed"/>
              </a:rPr>
              <a:t>se a</a:t>
            </a:r>
            <a:r>
              <a:rPr lang="en-US" sz="3600" spc="-107">
                <a:solidFill>
                  <a:srgbClr val="000000"/>
                </a:solidFill>
                <a:latin typeface="Georgia Pro Condensed"/>
                <a:ea typeface="Georgia Pro Condensed"/>
                <a:cs typeface="Georgia Pro Condensed"/>
                <a:sym typeface="Georgia Pro Condensed"/>
              </a:rPr>
              <a:t>l</a:t>
            </a:r>
            <a:r>
              <a:rPr lang="en-US" sz="3600" spc="-107">
                <a:solidFill>
                  <a:srgbClr val="000000"/>
                </a:solidFill>
                <a:latin typeface="Georgia Pro Condensed"/>
                <a:ea typeface="Georgia Pro Condensed"/>
                <a:cs typeface="Georgia Pro Condensed"/>
                <a:sym typeface="Georgia Pro Condensed"/>
              </a:rPr>
              <a:t>arm</a:t>
            </a:r>
            <a:r>
              <a:rPr lang="en-US" sz="3600" spc="-107">
                <a:solidFill>
                  <a:srgbClr val="000000"/>
                </a:solidFill>
                <a:latin typeface="Georgia Pro Condensed"/>
                <a:ea typeface="Georgia Pro Condensed"/>
                <a:cs typeface="Georgia Pro Condensed"/>
                <a:sym typeface="Georgia Pro Condensed"/>
              </a:rPr>
              <a:t>.</a:t>
            </a:r>
          </a:p>
          <a:p>
            <a:pPr algn="l">
              <a:lnSpc>
                <a:spcPts val="5400"/>
              </a:lnSpc>
            </a:pPr>
          </a:p>
          <a:p>
            <a:pPr algn="l">
              <a:lnSpc>
                <a:spcPts val="5400"/>
              </a:lnSpc>
            </a:pPr>
          </a:p>
        </p:txBody>
      </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466987" y="410634"/>
            <a:ext cx="5278487" cy="822325"/>
          </a:xfrm>
          <a:prstGeom prst="rect">
            <a:avLst/>
          </a:prstGeom>
        </p:spPr>
        <p:txBody>
          <a:bodyPr anchor="t" rtlCol="false" tIns="0" lIns="0" bIns="0" rIns="0">
            <a:spAutoFit/>
          </a:bodyPr>
          <a:lstStyle/>
          <a:p>
            <a:pPr algn="ctr">
              <a:lnSpc>
                <a:spcPts val="6500"/>
              </a:lnSpc>
              <a:spcBef>
                <a:spcPct val="0"/>
              </a:spcBef>
            </a:pPr>
            <a:r>
              <a:rPr lang="en-US" sz="5000" spc="-150">
                <a:solidFill>
                  <a:srgbClr val="000000"/>
                </a:solidFill>
                <a:latin typeface="Georgia Pro Condensed"/>
                <a:ea typeface="Georgia Pro Condensed"/>
                <a:cs typeface="Georgia Pro Condensed"/>
                <a:sym typeface="Georgia Pro Condensed"/>
              </a:rPr>
              <a:t>Future Enhancements</a:t>
            </a:r>
          </a:p>
        </p:txBody>
      </p:sp>
      <p:sp>
        <p:nvSpPr>
          <p:cNvPr name="TextBox 3" id="3"/>
          <p:cNvSpPr txBox="true"/>
          <p:nvPr/>
        </p:nvSpPr>
        <p:spPr>
          <a:xfrm rot="0">
            <a:off x="1028700" y="1713098"/>
            <a:ext cx="16230600" cy="5989701"/>
          </a:xfrm>
          <a:prstGeom prst="rect">
            <a:avLst/>
          </a:prstGeom>
        </p:spPr>
        <p:txBody>
          <a:bodyPr anchor="t" rtlCol="false" tIns="0" lIns="0" bIns="0" rIns="0">
            <a:spAutoFit/>
          </a:bodyPr>
          <a:lstStyle/>
          <a:p>
            <a:pPr algn="l" marL="842008" indent="-421004" lvl="1">
              <a:lnSpc>
                <a:spcPts val="5966"/>
              </a:lnSpc>
              <a:buFont typeface="Arial"/>
              <a:buChar char="•"/>
            </a:pPr>
            <a:r>
              <a:rPr lang="en-US" sz="3899" spc="-116">
                <a:solidFill>
                  <a:srgbClr val="000000"/>
                </a:solidFill>
                <a:latin typeface="Georgia Pro Condensed"/>
                <a:ea typeface="Georgia Pro Condensed"/>
                <a:cs typeface="Georgia Pro Condensed"/>
                <a:sym typeface="Georgia Pro Condensed"/>
              </a:rPr>
              <a:t>Explore advanced ensemble methods like XGBoost and LightGBM for stronger predictive power.</a:t>
            </a:r>
          </a:p>
          <a:p>
            <a:pPr algn="l" marL="842008" indent="-421004" lvl="1">
              <a:lnSpc>
                <a:spcPts val="5966"/>
              </a:lnSpc>
              <a:buFont typeface="Arial"/>
              <a:buChar char="•"/>
            </a:pPr>
            <a:r>
              <a:rPr lang="en-US" sz="3899" spc="-116">
                <a:solidFill>
                  <a:srgbClr val="000000"/>
                </a:solidFill>
                <a:latin typeface="Georgia Pro Condensed"/>
                <a:ea typeface="Georgia Pro Condensed"/>
                <a:cs typeface="Georgia Pro Condensed"/>
                <a:sym typeface="Georgia Pro Condensed"/>
              </a:rPr>
              <a:t>Enhance features through interaction terms, tenure groups, and CLV-based metrics.</a:t>
            </a:r>
          </a:p>
          <a:p>
            <a:pPr algn="l" marL="842008" indent="-421004" lvl="1">
              <a:lnSpc>
                <a:spcPts val="5966"/>
              </a:lnSpc>
              <a:buFont typeface="Arial"/>
              <a:buChar char="•"/>
            </a:pPr>
            <a:r>
              <a:rPr lang="en-US" sz="3899" spc="-116">
                <a:solidFill>
                  <a:srgbClr val="000000"/>
                </a:solidFill>
                <a:latin typeface="Georgia Pro Condensed"/>
                <a:ea typeface="Georgia Pro Condensed"/>
                <a:cs typeface="Georgia Pro Condensed"/>
                <a:sym typeface="Georgia Pro Condensed"/>
              </a:rPr>
              <a:t>Incorporate cost-sensitive learning to directly optimize retention ROI.</a:t>
            </a:r>
          </a:p>
          <a:p>
            <a:pPr algn="l" marL="842008" indent="-421004" lvl="1">
              <a:lnSpc>
                <a:spcPts val="5966"/>
              </a:lnSpc>
              <a:buFont typeface="Arial"/>
              <a:buChar char="•"/>
            </a:pPr>
            <a:r>
              <a:rPr lang="en-US" sz="3899" spc="-116">
                <a:solidFill>
                  <a:srgbClr val="000000"/>
                </a:solidFill>
                <a:latin typeface="Georgia Pro Condensed"/>
                <a:ea typeface="Georgia Pro Condensed"/>
                <a:cs typeface="Georgia Pro Condensed"/>
                <a:sym typeface="Georgia Pro Condensed"/>
              </a:rPr>
              <a:t>Use k-fold cross-validation for more reliable model evaluation.</a:t>
            </a:r>
          </a:p>
          <a:p>
            <a:pPr algn="l" marL="842008" indent="-421004" lvl="1">
              <a:lnSpc>
                <a:spcPts val="5966"/>
              </a:lnSpc>
              <a:buFont typeface="Arial"/>
              <a:buChar char="•"/>
            </a:pPr>
            <a:r>
              <a:rPr lang="en-US" sz="3899" spc="-116">
                <a:solidFill>
                  <a:srgbClr val="000000"/>
                </a:solidFill>
                <a:latin typeface="Georgia Pro Condensed"/>
                <a:ea typeface="Georgia Pro Condensed"/>
                <a:cs typeface="Georgia Pro Condensed"/>
                <a:sym typeface="Georgia Pro Condensed"/>
              </a:rPr>
              <a:t>Perform threshold optimization to find the best balance between recall and precision.</a:t>
            </a:r>
          </a:p>
        </p:txBody>
      </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a:gsLst>
            <a:gs pos="0">
              <a:srgbClr val="A6A6A6">
                <a:alpha val="100000"/>
              </a:srgbClr>
            </a:gs>
            <a:gs pos="100000">
              <a:srgbClr val="FFFFFF">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5642074" y="4264978"/>
            <a:ext cx="6988969" cy="1576069"/>
          </a:xfrm>
          <a:prstGeom prst="rect">
            <a:avLst/>
          </a:prstGeom>
        </p:spPr>
        <p:txBody>
          <a:bodyPr anchor="t" rtlCol="false" tIns="0" lIns="0" bIns="0" rIns="0">
            <a:spAutoFit/>
          </a:bodyPr>
          <a:lstStyle/>
          <a:p>
            <a:pPr algn="ctr">
              <a:lnSpc>
                <a:spcPts val="12880"/>
              </a:lnSpc>
            </a:pPr>
            <a:r>
              <a:rPr lang="en-US" sz="9200" b="true">
                <a:solidFill>
                  <a:srgbClr val="000000"/>
                </a:solidFill>
                <a:latin typeface="Georgia Pro Condensed Bold"/>
                <a:ea typeface="Georgia Pro Condensed Bold"/>
                <a:cs typeface="Georgia Pro Condensed Bold"/>
                <a:sym typeface="Georgia Pro Condense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DAG6lIpIO0c</dc:identifier>
  <dcterms:modified xsi:type="dcterms:W3CDTF">2011-08-01T06:04:30Z</dcterms:modified>
  <cp:revision>1</cp:revision>
  <dc:title>Telco Customer Churn Prediction</dc:title>
</cp:coreProperties>
</file>